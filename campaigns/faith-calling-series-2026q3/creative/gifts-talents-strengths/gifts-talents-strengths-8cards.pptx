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612ede3d0664ebe" /><Relationship Type="http://schemas.openxmlformats.org/officeDocument/2006/relationships/extended-properties" Target="/docProps/app.xml" Id="R99f692426fa34907" /><Relationship Type="http://schemas.openxmlformats.org/officeDocument/2006/relationships/officeDocument" Target="/ppt/presentation.xml" Id="Rf8929295b07a47b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97339e4f094971"/>
  </p:sldMasterIdLst>
  <p:notesMasterIdLst>
    <p:notesMasterId xmlns:r="http://schemas.openxmlformats.org/officeDocument/2006/relationships" r:id="Rcd94478ed2b84f11"/>
  </p:notesMasterIdLst>
  <p:sldIdLst>
    <p:sldId xmlns:r="http://schemas.openxmlformats.org/officeDocument/2006/relationships" id="256" r:id="R777817a1ac844820"/>
    <p:sldId xmlns:r="http://schemas.openxmlformats.org/officeDocument/2006/relationships" id="257" r:id="Re86c686805c14ad3"/>
    <p:sldId xmlns:r="http://schemas.openxmlformats.org/officeDocument/2006/relationships" id="258" r:id="Rddddd6d057bc4c4f"/>
    <p:sldId xmlns:r="http://schemas.openxmlformats.org/officeDocument/2006/relationships" id="259" r:id="R40756a396e634f93"/>
    <p:sldId xmlns:r="http://schemas.openxmlformats.org/officeDocument/2006/relationships" id="260" r:id="Rd53903b32d1240c4"/>
    <p:sldId xmlns:r="http://schemas.openxmlformats.org/officeDocument/2006/relationships" id="261" r:id="R634cc92506034b54"/>
    <p:sldId xmlns:r="http://schemas.openxmlformats.org/officeDocument/2006/relationships" id="262" r:id="Rc667bc8047834b71"/>
    <p:sldId xmlns:r="http://schemas.openxmlformats.org/officeDocument/2006/relationships" id="263" r:id="Rc97c75bc1f764915"/>
  </p:sldIdLst>
  <p:sldSz cx="10287000" cy="12858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ef65767830949d6" /><Relationship Type="http://schemas.openxmlformats.org/officeDocument/2006/relationships/slideMaster" Target="/ppt/slideMasters/slideMaster1.xml" Id="Rfa97339e4f094971" /><Relationship Type="http://schemas.openxmlformats.org/officeDocument/2006/relationships/notesMaster" Target="/ppt/notesMasters/notesMaster1.xml" Id="Rcd94478ed2b84f11" /><Relationship Type="http://schemas.openxmlformats.org/officeDocument/2006/relationships/presProps" Target="/ppt/presProps.xml" Id="Rcbd9f164d4fe478c" /><Relationship Type="http://schemas.openxmlformats.org/officeDocument/2006/relationships/tableStyles" Target="/ppt/tableStyles.xml" Id="Ra48786ffe27e4a56" /><Relationship Type="http://schemas.openxmlformats.org/officeDocument/2006/relationships/slide" Target="/ppt/slides/slide1.xml" Id="R777817a1ac844820" /><Relationship Type="http://schemas.openxmlformats.org/officeDocument/2006/relationships/slide" Target="/ppt/slides/slide2.xml" Id="Re86c686805c14ad3" /><Relationship Type="http://schemas.openxmlformats.org/officeDocument/2006/relationships/slide" Target="/ppt/slides/slide3.xml" Id="Rddddd6d057bc4c4f" /><Relationship Type="http://schemas.openxmlformats.org/officeDocument/2006/relationships/slide" Target="/ppt/slides/slide4.xml" Id="R40756a396e634f93" /><Relationship Type="http://schemas.openxmlformats.org/officeDocument/2006/relationships/slide" Target="/ppt/slides/slide5.xml" Id="Rd53903b32d1240c4" /><Relationship Type="http://schemas.openxmlformats.org/officeDocument/2006/relationships/slide" Target="/ppt/slides/slide6.xml" Id="R634cc92506034b54" /><Relationship Type="http://schemas.openxmlformats.org/officeDocument/2006/relationships/slide" Target="/ppt/slides/slide7.xml" Id="Rc667bc8047834b71" /><Relationship Type="http://schemas.openxmlformats.org/officeDocument/2006/relationships/slide" Target="/ppt/slides/slide8.xml" Id="Rc97c75bc1f7649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0e856e3bc4f4e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80959d18c23446d" /><Relationship Type="http://schemas.openxmlformats.org/officeDocument/2006/relationships/notesMaster" Target="/ppt/notesMasters/notesMaster1.xml" Id="R94a70df319a144e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339d898d6ce4925" /><Relationship Type="http://schemas.openxmlformats.org/officeDocument/2006/relationships/notesMaster" Target="/ppt/notesMasters/notesMaster1.xml" Id="Rd7eccdd780d74f1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9406efd637541dc" /><Relationship Type="http://schemas.openxmlformats.org/officeDocument/2006/relationships/notesMaster" Target="/ppt/notesMasters/notesMaster1.xml" Id="Rd0299d3bd7f4419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277e41c849b4c4b" /><Relationship Type="http://schemas.openxmlformats.org/officeDocument/2006/relationships/notesMaster" Target="/ppt/notesMasters/notesMaster1.xml" Id="R9d5347d3d2c64a3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56fefd85a594888" /><Relationship Type="http://schemas.openxmlformats.org/officeDocument/2006/relationships/notesMaster" Target="/ppt/notesMasters/notesMaster1.xml" Id="R6e440b1f0f994e1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0fbde4c683d4ecd" /><Relationship Type="http://schemas.openxmlformats.org/officeDocument/2006/relationships/notesMaster" Target="/ppt/notesMasters/notesMaster1.xml" Id="Rf21a5005c5f94df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87d9592bb5f4de1" /><Relationship Type="http://schemas.openxmlformats.org/officeDocument/2006/relationships/notesMaster" Target="/ppt/notesMasters/notesMaster1.xml" Id="Rdf0cf41d79f94cb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6cbb35137254c49" /><Relationship Type="http://schemas.openxmlformats.org/officeDocument/2006/relationships/notesMaster" Target="/ppt/notesMasters/notesMaster1.xml" Id="R65bc643d63f1481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Career Direct Korea 신앙과 소명 캠페인 원고: 은사·재능·강점 1장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Career Direct Korea 신앙과 소명 캠페인 원고: 은사·재능·강점 2장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Career Direct Korea 신앙과 소명 캠페인 원고: 은사·재능·강점 3장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Career Direct Korea 신앙과 소명 캠페인 원고: 은사·재능·강점 4장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대한성서공회 개역개정 성경, 고린도전서 12:4–7</a:t>
            </a:r>
          </a:p>
          <a:p xmlns:a="http://schemas.openxmlformats.org/drawingml/2006/main">
            <a:r>
              <a:t>Career Direct Korea 신앙과 소명 캠페인 원고: 은사·재능·강점 5장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대한성서공회 개역개정 성경, 베드로전서 4:10–11</a:t>
            </a:r>
          </a:p>
          <a:p xmlns:a="http://schemas.openxmlformats.org/drawingml/2006/main">
            <a:r>
              <a:t>Career Direct Korea 신앙과 소명 캠페인 원고: 은사·재능·강점 6장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Career Direct Korea 신앙과 소명 캠페인 원고: 은사·재능·강점 7장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Career Direct Korea 신앙과 소명 캠페인 원고: 은사·재능·강점 8장</a:t>
            </a:r>
          </a:p>
          <a:p xmlns:a="http://schemas.openxmlformats.org/drawingml/2006/main">
            <a:r>
              <a:t>CTA: https://start.careerdirect.kr/career-check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b7232f22f74cf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f25765403934ed6" /><Relationship Type="http://schemas.openxmlformats.org/officeDocument/2006/relationships/slideLayout" Target="/ppt/slideLayouts/slideLayout1.xml" Id="R3026af64134c40b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026af64134c40b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f830cff09f46ec" /><Relationship Type="http://schemas.openxmlformats.org/officeDocument/2006/relationships/image" Target="/ppt/media/image.png" Id="Re6da3dc0870044ac" /><Relationship Type="http://schemas.openxmlformats.org/officeDocument/2006/relationships/notesSlide" Target="/ppt/notesSlides/notesSlide1.xml" Id="R69657da6eb6946c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b2bca175274b87" /><Relationship Type="http://schemas.openxmlformats.org/officeDocument/2006/relationships/notesSlide" Target="/ppt/notesSlides/notesSlide2.xml" Id="R9b22382a517949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34d0baffd64f48" /><Relationship Type="http://schemas.openxmlformats.org/officeDocument/2006/relationships/notesSlide" Target="/ppt/notesSlides/notesSlide3.xml" Id="R9baa7955528045a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577ecf60364d60" /><Relationship Type="http://schemas.openxmlformats.org/officeDocument/2006/relationships/notesSlide" Target="/ppt/notesSlides/notesSlide4.xml" Id="Rdd73d33bf67d426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bdbb51f08b4580" /><Relationship Type="http://schemas.openxmlformats.org/officeDocument/2006/relationships/notesSlide" Target="/ppt/notesSlides/notesSlide5.xml" Id="Rcb67b5fb6d4c4f4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2fe069923b42bc" /><Relationship Type="http://schemas.openxmlformats.org/officeDocument/2006/relationships/notesSlide" Target="/ppt/notesSlides/notesSlide6.xml" Id="R271c4101ea3746d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6ebd4e3aed400e" /><Relationship Type="http://schemas.openxmlformats.org/officeDocument/2006/relationships/notesSlide" Target="/ppt/notesSlides/notesSlide7.xml" Id="Ra1551d97fb7148f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9c8aab0b594ffe" /><Relationship Type="http://schemas.openxmlformats.org/officeDocument/2006/relationships/image" Target="/ppt/media/image2.png" Id="Rc26fa675d3384f5d" /><Relationship Type="http://schemas.openxmlformats.org/officeDocument/2006/relationships/notesSlide" Target="/ppt/notesSlides/notesSlide8.xml" Id="R8ed3d8acb0bf40b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34D4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-rule">
            <a:extLst xmlns:a="http://schemas.openxmlformats.org/drawingml/2006/main">
              <a:ext uri="{FF2B5EF4-FFF2-40B4-BE49-F238E27FC236}">
                <a16:creationId xmlns:a16="http://schemas.microsoft.com/office/drawing/2014/main" id="{F8E70444-1FFF-4B89-91B6-76A12D502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200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A670"/>
            </a:solidFill>
            <a:prstDash val="solid"/>
          </a:ln>
        </p:spPr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23B5B8F-365B-433F-9290-B9EFD887B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1440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D9A670"/>
                </a:solidFill>
              </a:defRPr>
            </a:pPr>
            <a:r>
              <a:rPr sz="1425" b="1">
                <a:solidFill>
                  <a:srgbClr val="D9A670"/>
                </a:solidFill>
              </a:rPr>
              <a:t>CAREER DIRECT KOREA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da3dc0870044ac"/>
          <a:stretch xmlns:a="http://schemas.openxmlformats.org/drawingml/2006/main"/>
        </p:blipFill>
        <p:spPr>
          <a:xfrm xmlns:a="http://schemas.openxmlformats.org/drawingml/2006/main">
            <a:off x="6667500" y="722521"/>
            <a:ext cx="2667000" cy="745707"/>
          </a:xfrm>
          <a:prstGeom xmlns:a="http://schemas.openxmlformats.org/drawingml/2006/main" prst="rect">
            <a:avLst/>
          </a:prstGeom>
        </p:spPr>
      </p:pic>
      <p:sp>
        <p:nvSpPr>
          <p:cNvPr id="4" name="question-1">
            <a:extLst xmlns:a="http://schemas.openxmlformats.org/drawingml/2006/main">
              <a:ext uri="{FF2B5EF4-FFF2-40B4-BE49-F238E27FC236}">
                <a16:creationId xmlns:a16="http://schemas.microsoft.com/office/drawing/2014/main" id="{40DAD63B-FBC1-4AE7-9196-6CAE839B5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43125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050" b="0">
                <a:solidFill>
                  <a:srgbClr val="F5F1E8"/>
                </a:solidFill>
              </a:defRPr>
            </a:pPr>
            <a:r>
              <a:rPr sz="4050" b="0">
                <a:solidFill>
                  <a:srgbClr val="F5F1E8"/>
                </a:solidFill>
              </a:rPr>
              <a:t>잘하는 일이 곧</a:t>
            </a:r>
          </a:p>
        </p:txBody>
      </p:sp>
      <p:sp>
        <p:nvSpPr>
          <p:cNvPr id="5" name="question-2">
            <a:extLst xmlns:a="http://schemas.openxmlformats.org/drawingml/2006/main">
              <a:ext uri="{FF2B5EF4-FFF2-40B4-BE49-F238E27FC236}">
                <a16:creationId xmlns:a16="http://schemas.microsoft.com/office/drawing/2014/main" id="{A3DA58D5-4635-4002-A3DD-317C673F9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76550"/>
            <a:ext cx="8858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050" b="0">
                <a:solidFill>
                  <a:srgbClr val="F5F1E8"/>
                </a:solidFill>
              </a:defRPr>
            </a:pPr>
            <a:r>
              <a:rPr sz="4050" b="0">
                <a:solidFill>
                  <a:srgbClr val="F5F1E8"/>
                </a:solidFill>
              </a:rPr>
              <a:t>나의 소명일까요?</a:t>
            </a:r>
          </a:p>
        </p:txBody>
      </p:sp>
      <p:sp>
        <p:nvSpPr>
          <p:cNvPr id="6" name="main-1">
            <a:extLst xmlns:a="http://schemas.openxmlformats.org/drawingml/2006/main">
              <a:ext uri="{FF2B5EF4-FFF2-40B4-BE49-F238E27FC236}">
                <a16:creationId xmlns:a16="http://schemas.microsoft.com/office/drawing/2014/main" id="{9883D867-F176-4B69-AC6B-2CD04CFD0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29125"/>
            <a:ext cx="7810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6150" b="1">
                <a:solidFill>
                  <a:srgbClr val="FFFFFF"/>
                </a:solidFill>
              </a:defRPr>
            </a:pPr>
            <a:r>
              <a:rPr sz="6150" b="1">
                <a:solidFill>
                  <a:srgbClr val="FFFFFF"/>
                </a:solidFill>
              </a:rPr>
              <a:t>은사·재능·강점은</a:t>
            </a:r>
          </a:p>
        </p:txBody>
      </p:sp>
      <p:sp>
        <p:nvSpPr>
          <p:cNvPr id="7" name="main-2">
            <a:extLst xmlns:a="http://schemas.openxmlformats.org/drawingml/2006/main">
              <a:ext uri="{FF2B5EF4-FFF2-40B4-BE49-F238E27FC236}">
                <a16:creationId xmlns:a16="http://schemas.microsoft.com/office/drawing/2014/main" id="{CF7C7743-FFAE-4674-85C8-89F173A02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67350"/>
            <a:ext cx="8096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5850" b="1">
                <a:solidFill>
                  <a:srgbClr val="FFFFFF"/>
                </a:solidFill>
              </a:defRPr>
            </a:pPr>
            <a:r>
              <a:rPr sz="5850" b="1">
                <a:solidFill>
                  <a:srgbClr val="FFFFFF"/>
                </a:solidFill>
              </a:rPr>
              <a:t>서로 연결되지만</a:t>
            </a:r>
          </a:p>
        </p:txBody>
      </p:sp>
      <p:sp>
        <p:nvSpPr>
          <p:cNvPr id="8" name="main-accent">
            <a:extLst xmlns:a="http://schemas.openxmlformats.org/drawingml/2006/main">
              <a:ext uri="{FF2B5EF4-FFF2-40B4-BE49-F238E27FC236}">
                <a16:creationId xmlns:a16="http://schemas.microsoft.com/office/drawing/2014/main" id="{9A376B92-1B3C-416D-A233-C30C26FF2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553200"/>
            <a:ext cx="857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5850" b="1">
                <a:solidFill>
                  <a:srgbClr val="D9A670"/>
                </a:solidFill>
              </a:defRPr>
            </a:pPr>
            <a:r>
              <a:rPr sz="5850" b="1">
                <a:solidFill>
                  <a:srgbClr val="D9A670"/>
                </a:solidFill>
              </a:rPr>
              <a:t>같은 개념은 아닙니다.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D901E8E-D0FE-4FC4-94A4-88EF52731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734800"/>
            <a:ext cx="733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9A670"/>
                </a:solidFill>
              </a:defRPr>
            </a:pPr>
            <a:r>
              <a:rPr sz="1275" b="0">
                <a:solidFill>
                  <a:srgbClr val="D9A670"/>
                </a:solidFill>
              </a:rPr>
              <a:t>01 / 08  ·  DISCOVER YOUR GIFTS</a:t>
            </a:r>
          </a:p>
        </p:txBody>
      </p:sp>
    </p:spTree>
    <p:extLst>
      <p:ext uri="{BB962C8B-B14F-4D97-AF65-F5344CB8AC3E}">
        <p14:creationId xmlns:p14="http://schemas.microsoft.com/office/powerpoint/2010/main" val="5708196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rule">
            <a:extLst xmlns:a="http://schemas.openxmlformats.org/drawingml/2006/main">
              <a:ext uri="{FF2B5EF4-FFF2-40B4-BE49-F238E27FC236}">
                <a16:creationId xmlns:a16="http://schemas.microsoft.com/office/drawing/2014/main" id="{9371F4FF-411D-49FF-8106-1E2FC9A33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200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A670"/>
            </a:solidFill>
            <a:prstDash val="solid"/>
          </a:ln>
        </p:spPr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DB878560-40B4-486B-BB02-52C9EBFF4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1440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D9A670"/>
                </a:solidFill>
              </a:defRPr>
            </a:pPr>
            <a:r>
              <a:rPr sz="1425" b="1">
                <a:solidFill>
                  <a:srgbClr val="D9A670"/>
                </a:solidFill>
              </a:rPr>
              <a:t>ISSUE 01 · 먼저 기억할 원칙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8F43C06-9BC1-4F4D-8A57-CE8B1406D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876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2C5F5D"/>
                </a:solidFill>
              </a:defRPr>
            </a:pPr>
            <a:r>
              <a:rPr sz="4050" b="1">
                <a:solidFill>
                  <a:srgbClr val="2C5F5D"/>
                </a:solidFill>
              </a:rPr>
              <a:t>잘하는 일은</a:t>
            </a:r>
          </a:p>
          <a:p xmlns:a="http://schemas.openxmlformats.org/drawingml/2006/main">
            <a:pPr algn="l">
              <a:buNone/>
              <a:defRPr sz="4050" b="1">
                <a:solidFill>
                  <a:srgbClr val="2C5F5D"/>
                </a:solidFill>
              </a:defRPr>
            </a:pPr>
            <a:r>
              <a:rPr sz="4050" b="1">
                <a:solidFill>
                  <a:srgbClr val="2C5F5D"/>
                </a:solidFill>
              </a:rPr>
              <a:t>중요한 단서입니다</a:t>
            </a:r>
          </a:p>
        </p:txBody>
      </p:sp>
      <p:sp>
        <p:nvSpPr>
          <p:cNvPr id="4" name="quote-frame">
            <a:extLst xmlns:a="http://schemas.openxmlformats.org/drawingml/2006/main">
              <a:ext uri="{FF2B5EF4-FFF2-40B4-BE49-F238E27FC236}">
                <a16:creationId xmlns:a16="http://schemas.microsoft.com/office/drawing/2014/main" id="{0FEAB9EC-7410-4391-858B-33468BF88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0"/>
            <a:ext cx="4572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47625">
            <a:solidFill>
              <a:srgbClr val="D9A670"/>
            </a:solidFill>
            <a:prstDash val="solid"/>
          </a:ln>
        </p:spPr>
      </p:sp>
      <p:sp>
        <p:nvSpPr>
          <p:cNvPr id="5" name="quote">
            <a:extLst xmlns:a="http://schemas.openxmlformats.org/drawingml/2006/main">
              <a:ext uri="{FF2B5EF4-FFF2-40B4-BE49-F238E27FC236}">
                <a16:creationId xmlns:a16="http://schemas.microsoft.com/office/drawing/2014/main" id="{DE415A99-4C1F-41E7-846E-488D8327A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52950"/>
            <a:ext cx="3810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2C5F5D"/>
                </a:solidFill>
              </a:defRPr>
            </a:pPr>
            <a:r>
              <a:rPr sz="2925" b="1">
                <a:solidFill>
                  <a:srgbClr val="2C5F5D"/>
                </a:solidFill>
              </a:rPr>
              <a:t>잘하는 일은</a:t>
            </a:r>
          </a:p>
          <a:p xmlns:a="http://schemas.openxmlformats.org/drawingml/2006/main">
            <a:pPr algn="l">
              <a:buNone/>
              <a:defRPr sz="2925" b="1">
                <a:solidFill>
                  <a:srgbClr val="2C5F5D"/>
                </a:solidFill>
              </a:defRPr>
            </a:pPr>
            <a:r>
              <a:rPr sz="2925" b="1">
                <a:solidFill>
                  <a:srgbClr val="2C5F5D"/>
                </a:solidFill>
              </a:rPr>
              <a:t>소명을 이해하는</a:t>
            </a:r>
          </a:p>
          <a:p xmlns:a="http://schemas.openxmlformats.org/drawingml/2006/main">
            <a:pPr algn="l">
              <a:buNone/>
              <a:defRPr sz="2925" b="1">
                <a:solidFill>
                  <a:srgbClr val="2C5F5D"/>
                </a:solidFill>
              </a:defRPr>
            </a:pPr>
            <a:r>
              <a:rPr sz="2925" b="1">
                <a:solidFill>
                  <a:srgbClr val="2C5F5D"/>
                </a:solidFill>
              </a:rPr>
              <a:t>중요한 단서가</a:t>
            </a:r>
          </a:p>
          <a:p xmlns:a="http://schemas.openxmlformats.org/drawingml/2006/main">
            <a:pPr algn="l">
              <a:buNone/>
              <a:defRPr sz="2925" b="1">
                <a:solidFill>
                  <a:srgbClr val="2C5F5D"/>
                </a:solidFill>
              </a:defRPr>
            </a:pPr>
            <a:r>
              <a:rPr sz="2925" b="1">
                <a:solidFill>
                  <a:srgbClr val="2C5F5D"/>
                </a:solidFill>
              </a:rPr>
              <a:t>될 수 있습니다.</a:t>
            </a:r>
          </a:p>
        </p:txBody>
      </p:sp>
      <p:sp>
        <p:nvSpPr>
          <p:cNvPr id="6" name="perspective">
            <a:extLst xmlns:a="http://schemas.openxmlformats.org/drawingml/2006/main">
              <a:ext uri="{FF2B5EF4-FFF2-40B4-BE49-F238E27FC236}">
                <a16:creationId xmlns:a16="http://schemas.microsoft.com/office/drawing/2014/main" id="{E74C2D60-4B67-4159-92CA-B221E2F38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572000"/>
            <a:ext cx="3429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2C5F5D"/>
                </a:solidFill>
              </a:defRPr>
            </a:pPr>
            <a:r>
              <a:rPr sz="2625" b="1">
                <a:solidFill>
                  <a:srgbClr val="2C5F5D"/>
                </a:solidFill>
              </a:rPr>
              <a:t>하지만 소명의</a:t>
            </a:r>
          </a:p>
          <a:p xmlns:a="http://schemas.openxmlformats.org/drawingml/2006/main">
            <a:pPr algn="l">
              <a:buNone/>
              <a:defRPr sz="2625" b="1">
                <a:solidFill>
                  <a:srgbClr val="2C5F5D"/>
                </a:solidFill>
              </a:defRPr>
            </a:pPr>
            <a:r>
              <a:rPr sz="2625" b="1">
                <a:solidFill>
                  <a:srgbClr val="2C5F5D"/>
                </a:solidFill>
              </a:rPr>
              <a:t>최종 판정은</a:t>
            </a:r>
          </a:p>
          <a:p xmlns:a="http://schemas.openxmlformats.org/drawingml/2006/main">
            <a:pPr algn="l">
              <a:buNone/>
              <a:defRPr sz="2625" b="1">
                <a:solidFill>
                  <a:srgbClr val="2C5F5D"/>
                </a:solidFill>
              </a:defRPr>
            </a:pPr>
            <a:r>
              <a:rPr sz="2625" b="1">
                <a:solidFill>
                  <a:srgbClr val="2C5F5D"/>
                </a:solidFill>
              </a:rPr>
              <a:t>아닙니다.</a:t>
            </a:r>
          </a:p>
        </p:txBody>
      </p:sp>
      <p:sp>
        <p:nvSpPr>
          <p:cNvPr id="7" name="detail">
            <a:extLst xmlns:a="http://schemas.openxmlformats.org/drawingml/2006/main">
              <a:ext uri="{FF2B5EF4-FFF2-40B4-BE49-F238E27FC236}">
                <a16:creationId xmlns:a16="http://schemas.microsoft.com/office/drawing/2014/main" id="{551C18F8-4C76-4AD1-A614-831FBA3A8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7086600"/>
            <a:ext cx="3619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4B4B4B"/>
                </a:solidFill>
              </a:defRPr>
            </a:pPr>
            <a:r>
              <a:rPr sz="1875" b="0">
                <a:solidFill>
                  <a:srgbClr val="4B4B4B"/>
                </a:solidFill>
              </a:rPr>
              <a:t>목적·성품·관계·책임을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4B4B4B"/>
                </a:solidFill>
              </a:defRPr>
            </a:pPr>
            <a:r>
              <a:rPr sz="1875" b="0">
                <a:solidFill>
                  <a:srgbClr val="4B4B4B"/>
                </a:solidFill>
              </a:rPr>
              <a:t>함께 살펴야 합니다.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20F354F-180A-44B8-A9B8-23AE6E271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734800"/>
            <a:ext cx="733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9A670"/>
                </a:solidFill>
              </a:defRPr>
            </a:pPr>
            <a:r>
              <a:rPr sz="1275" b="0">
                <a:solidFill>
                  <a:srgbClr val="D9A670"/>
                </a:solidFill>
              </a:rPr>
              <a:t>02 / 08  ·  MORE THAN ABILITY</a:t>
            </a:r>
          </a:p>
        </p:txBody>
      </p:sp>
    </p:spTree>
    <p:extLst>
      <p:ext uri="{BB962C8B-B14F-4D97-AF65-F5344CB8AC3E}">
        <p14:creationId xmlns:p14="http://schemas.microsoft.com/office/powerpoint/2010/main" val="15977614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rule">
            <a:extLst xmlns:a="http://schemas.openxmlformats.org/drawingml/2006/main">
              <a:ext uri="{FF2B5EF4-FFF2-40B4-BE49-F238E27FC236}">
                <a16:creationId xmlns:a16="http://schemas.microsoft.com/office/drawing/2014/main" id="{9371F4FF-411D-49FF-8106-1E2FC9A33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200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A670"/>
            </a:solidFill>
            <a:prstDash val="solid"/>
          </a:ln>
        </p:spPr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DB878560-40B4-486B-BB02-52C9EBFF4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1440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D9A670"/>
                </a:solidFill>
              </a:defRPr>
            </a:pPr>
            <a:r>
              <a:rPr sz="1425" b="1">
                <a:solidFill>
                  <a:srgbClr val="D9A670"/>
                </a:solidFill>
              </a:rPr>
              <a:t>ISSUE 02 · 영적 은사와 재능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8F43C06-9BC1-4F4D-8A57-CE8B1406D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876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2C5F5D"/>
                </a:solidFill>
              </a:defRPr>
            </a:pPr>
            <a:r>
              <a:rPr sz="4050" b="1">
                <a:solidFill>
                  <a:srgbClr val="2C5F5D"/>
                </a:solidFill>
              </a:rPr>
              <a:t>영적 은사와 재능은</a:t>
            </a:r>
          </a:p>
          <a:p xmlns:a="http://schemas.openxmlformats.org/drawingml/2006/main">
            <a:pPr algn="l">
              <a:buNone/>
              <a:defRPr sz="4050" b="1">
                <a:solidFill>
                  <a:srgbClr val="2C5F5D"/>
                </a:solidFill>
              </a:defRPr>
            </a:pPr>
            <a:r>
              <a:rPr sz="4050" b="1">
                <a:solidFill>
                  <a:srgbClr val="2C5F5D"/>
                </a:solidFill>
              </a:rPr>
              <a:t>같은 개념이 아닙니다</a:t>
            </a:r>
          </a:p>
        </p:txBody>
      </p:sp>
      <p:sp>
        <p:nvSpPr>
          <p:cNvPr id="4" name="quote-frame">
            <a:extLst xmlns:a="http://schemas.openxmlformats.org/drawingml/2006/main">
              <a:ext uri="{FF2B5EF4-FFF2-40B4-BE49-F238E27FC236}">
                <a16:creationId xmlns:a16="http://schemas.microsoft.com/office/drawing/2014/main" id="{0FEAB9EC-7410-4391-858B-33468BF88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0"/>
            <a:ext cx="4572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47625">
            <a:solidFill>
              <a:srgbClr val="D9A670"/>
            </a:solidFill>
            <a:prstDash val="solid"/>
          </a:ln>
        </p:spPr>
      </p:sp>
      <p:sp>
        <p:nvSpPr>
          <p:cNvPr id="5" name="quote">
            <a:extLst xmlns:a="http://schemas.openxmlformats.org/drawingml/2006/main">
              <a:ext uri="{FF2B5EF4-FFF2-40B4-BE49-F238E27FC236}">
                <a16:creationId xmlns:a16="http://schemas.microsoft.com/office/drawing/2014/main" id="{DE415A99-4C1F-41E7-846E-488D8327A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52950"/>
            <a:ext cx="3810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2C5F5D"/>
                </a:solidFill>
              </a:defRPr>
            </a:pPr>
            <a:r>
              <a:rPr sz="2925" b="1">
                <a:solidFill>
                  <a:srgbClr val="2C5F5D"/>
                </a:solidFill>
              </a:rPr>
              <a:t>영적 은사</a:t>
            </a:r>
          </a:p>
          <a:p xmlns:a="http://schemas.openxmlformats.org/drawingml/2006/main">
            <a:pPr algn="l">
              <a:buNone/>
              <a:defRPr sz="2925" b="1">
                <a:solidFill>
                  <a:srgbClr val="2C5F5D"/>
                </a:solidFill>
              </a:defRPr>
            </a:pPr>
            <a:r>
              <a:rPr sz="2925" b="1">
                <a:solidFill>
                  <a:srgbClr val="2C5F5D"/>
                </a:solidFill>
              </a:rPr>
              <a:t>공동체를 세우도록</a:t>
            </a:r>
          </a:p>
          <a:p xmlns:a="http://schemas.openxmlformats.org/drawingml/2006/main">
            <a:pPr algn="l">
              <a:buNone/>
              <a:defRPr sz="2925" b="1">
                <a:solidFill>
                  <a:srgbClr val="2C5F5D"/>
                </a:solidFill>
              </a:defRPr>
            </a:pPr>
            <a:r>
              <a:rPr sz="2925" b="1">
                <a:solidFill>
                  <a:srgbClr val="2C5F5D"/>
                </a:solidFill>
              </a:rPr>
              <a:t>성령께서 주시는</a:t>
            </a:r>
          </a:p>
          <a:p xmlns:a="http://schemas.openxmlformats.org/drawingml/2006/main">
            <a:pPr algn="l">
              <a:buNone/>
              <a:defRPr sz="2925" b="1">
                <a:solidFill>
                  <a:srgbClr val="2C5F5D"/>
                </a:solidFill>
              </a:defRPr>
            </a:pPr>
            <a:r>
              <a:rPr sz="2925" b="1">
                <a:solidFill>
                  <a:srgbClr val="2C5F5D"/>
                </a:solidFill>
              </a:rPr>
              <a:t>은혜의 선물</a:t>
            </a:r>
          </a:p>
        </p:txBody>
      </p:sp>
      <p:sp>
        <p:nvSpPr>
          <p:cNvPr id="6" name="perspective">
            <a:extLst xmlns:a="http://schemas.openxmlformats.org/drawingml/2006/main">
              <a:ext uri="{FF2B5EF4-FFF2-40B4-BE49-F238E27FC236}">
                <a16:creationId xmlns:a16="http://schemas.microsoft.com/office/drawing/2014/main" id="{E74C2D60-4B67-4159-92CA-B221E2F38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572000"/>
            <a:ext cx="3429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2C5F5D"/>
                </a:solidFill>
              </a:defRPr>
            </a:pPr>
            <a:r>
              <a:rPr sz="2625" b="1">
                <a:solidFill>
                  <a:srgbClr val="2C5F5D"/>
                </a:solidFill>
              </a:rPr>
              <a:t>재능</a:t>
            </a:r>
          </a:p>
          <a:p xmlns:a="http://schemas.openxmlformats.org/drawingml/2006/main">
            <a:pPr algn="l">
              <a:buNone/>
              <a:defRPr sz="2625" b="1">
                <a:solidFill>
                  <a:srgbClr val="2C5F5D"/>
                </a:solidFill>
              </a:defRPr>
            </a:pPr>
            <a:r>
              <a:rPr sz="2625" b="1">
                <a:solidFill>
                  <a:srgbClr val="2C5F5D"/>
                </a:solidFill>
              </a:rPr>
              <a:t>비교적 빠르게 배우고</a:t>
            </a:r>
          </a:p>
          <a:p xmlns:a="http://schemas.openxmlformats.org/drawingml/2006/main">
            <a:pPr algn="l">
              <a:buNone/>
              <a:defRPr sz="2625" b="1">
                <a:solidFill>
                  <a:srgbClr val="2C5F5D"/>
                </a:solidFill>
              </a:defRPr>
            </a:pPr>
            <a:r>
              <a:rPr sz="2625" b="1">
                <a:solidFill>
                  <a:srgbClr val="2C5F5D"/>
                </a:solidFill>
              </a:rPr>
              <a:t>수행할 가능성</a:t>
            </a:r>
          </a:p>
        </p:txBody>
      </p:sp>
      <p:sp>
        <p:nvSpPr>
          <p:cNvPr id="7" name="detail">
            <a:extLst xmlns:a="http://schemas.openxmlformats.org/drawingml/2006/main">
              <a:ext uri="{FF2B5EF4-FFF2-40B4-BE49-F238E27FC236}">
                <a16:creationId xmlns:a16="http://schemas.microsoft.com/office/drawing/2014/main" id="{551C18F8-4C76-4AD1-A614-831FBA3A8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7086600"/>
            <a:ext cx="3619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4B4B4B"/>
                </a:solidFill>
              </a:defRPr>
            </a:pPr>
            <a:r>
              <a:rPr sz="1875" b="0">
                <a:solidFill>
                  <a:srgbClr val="4B4B4B"/>
                </a:solidFill>
              </a:rPr>
              <a:t>재능은 영적 은사를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4B4B4B"/>
                </a:solidFill>
              </a:defRPr>
            </a:pPr>
            <a:r>
              <a:rPr sz="1875" b="0">
                <a:solidFill>
                  <a:srgbClr val="4B4B4B"/>
                </a:solidFill>
              </a:rPr>
              <a:t>측정하는 항목이 아닙니다.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20F354F-180A-44B8-A9B8-23AE6E271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734800"/>
            <a:ext cx="733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9A670"/>
                </a:solidFill>
              </a:defRPr>
            </a:pPr>
            <a:r>
              <a:rPr sz="1275" b="0">
                <a:solidFill>
                  <a:srgbClr val="D9A670"/>
                </a:solidFill>
              </a:rPr>
              <a:t>03 / 08  ·  GIFTS AND TALENTS</a:t>
            </a:r>
          </a:p>
        </p:txBody>
      </p:sp>
    </p:spTree>
    <p:extLst>
      <p:ext uri="{BB962C8B-B14F-4D97-AF65-F5344CB8AC3E}">
        <p14:creationId xmlns:p14="http://schemas.microsoft.com/office/powerpoint/2010/main" val="15977614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rule">
            <a:extLst xmlns:a="http://schemas.openxmlformats.org/drawingml/2006/main">
              <a:ext uri="{FF2B5EF4-FFF2-40B4-BE49-F238E27FC236}">
                <a16:creationId xmlns:a16="http://schemas.microsoft.com/office/drawing/2014/main" id="{9371F4FF-411D-49FF-8106-1E2FC9A33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200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A670"/>
            </a:solidFill>
            <a:prstDash val="solid"/>
          </a:ln>
        </p:spPr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DB878560-40B4-486B-BB02-52C9EBFF4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1440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D9A670"/>
                </a:solidFill>
              </a:defRPr>
            </a:pPr>
            <a:r>
              <a:rPr sz="1425" b="1">
                <a:solidFill>
                  <a:srgbClr val="D9A670"/>
                </a:solidFill>
              </a:rPr>
              <a:t>ISSUE 03 · 기술과 강점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8F43C06-9BC1-4F4D-8A57-CE8B1406D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876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2C5F5D"/>
                </a:solidFill>
              </a:defRPr>
            </a:pPr>
            <a:r>
              <a:rPr sz="4050" b="1">
                <a:solidFill>
                  <a:srgbClr val="2C5F5D"/>
                </a:solidFill>
              </a:rPr>
              <a:t>기술과 강점은</a:t>
            </a:r>
          </a:p>
          <a:p xmlns:a="http://schemas.openxmlformats.org/drawingml/2006/main">
            <a:pPr algn="l">
              <a:buNone/>
              <a:defRPr sz="4050" b="1">
                <a:solidFill>
                  <a:srgbClr val="2C5F5D"/>
                </a:solidFill>
              </a:defRPr>
            </a:pPr>
            <a:r>
              <a:rPr sz="4050" b="1">
                <a:solidFill>
                  <a:srgbClr val="2C5F5D"/>
                </a:solidFill>
              </a:rPr>
              <a:t>경험 속에서 자랍니다</a:t>
            </a:r>
          </a:p>
        </p:txBody>
      </p:sp>
      <p:sp>
        <p:nvSpPr>
          <p:cNvPr id="4" name="quote-frame">
            <a:extLst xmlns:a="http://schemas.openxmlformats.org/drawingml/2006/main">
              <a:ext uri="{FF2B5EF4-FFF2-40B4-BE49-F238E27FC236}">
                <a16:creationId xmlns:a16="http://schemas.microsoft.com/office/drawing/2014/main" id="{0FEAB9EC-7410-4391-858B-33468BF88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0"/>
            <a:ext cx="4572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47625">
            <a:solidFill>
              <a:srgbClr val="D9A670"/>
            </a:solidFill>
            <a:prstDash val="solid"/>
          </a:ln>
        </p:spPr>
      </p:sp>
      <p:sp>
        <p:nvSpPr>
          <p:cNvPr id="5" name="quote">
            <a:extLst xmlns:a="http://schemas.openxmlformats.org/drawingml/2006/main">
              <a:ext uri="{FF2B5EF4-FFF2-40B4-BE49-F238E27FC236}">
                <a16:creationId xmlns:a16="http://schemas.microsoft.com/office/drawing/2014/main" id="{DE415A99-4C1F-41E7-846E-488D8327A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52950"/>
            <a:ext cx="3810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2C5F5D"/>
                </a:solidFill>
              </a:defRPr>
            </a:pPr>
            <a:r>
              <a:rPr sz="2925" b="1">
                <a:solidFill>
                  <a:srgbClr val="2C5F5D"/>
                </a:solidFill>
              </a:rPr>
              <a:t>기술</a:t>
            </a:r>
          </a:p>
          <a:p xmlns:a="http://schemas.openxmlformats.org/drawingml/2006/main">
            <a:pPr algn="l">
              <a:buNone/>
              <a:defRPr sz="2925" b="1">
                <a:solidFill>
                  <a:srgbClr val="2C5F5D"/>
                </a:solidFill>
              </a:defRPr>
            </a:pPr>
            <a:r>
              <a:rPr sz="2925" b="1">
                <a:solidFill>
                  <a:srgbClr val="2C5F5D"/>
                </a:solidFill>
              </a:rPr>
              <a:t>연습·교육·경험과</a:t>
            </a:r>
          </a:p>
          <a:p xmlns:a="http://schemas.openxmlformats.org/drawingml/2006/main">
            <a:pPr algn="l">
              <a:buNone/>
              <a:defRPr sz="2925" b="1">
                <a:solidFill>
                  <a:srgbClr val="2C5F5D"/>
                </a:solidFill>
              </a:defRPr>
            </a:pPr>
            <a:r>
              <a:rPr sz="2925" b="1">
                <a:solidFill>
                  <a:srgbClr val="2C5F5D"/>
                </a:solidFill>
              </a:rPr>
              <a:t>피드백으로 익힌</a:t>
            </a:r>
          </a:p>
          <a:p xmlns:a="http://schemas.openxmlformats.org/drawingml/2006/main">
            <a:pPr algn="l">
              <a:buNone/>
              <a:defRPr sz="2925" b="1">
                <a:solidFill>
                  <a:srgbClr val="2C5F5D"/>
                </a:solidFill>
              </a:defRPr>
            </a:pPr>
            <a:r>
              <a:rPr sz="2925" b="1">
                <a:solidFill>
                  <a:srgbClr val="2C5F5D"/>
                </a:solidFill>
              </a:rPr>
              <a:t>수행 능력</a:t>
            </a:r>
          </a:p>
        </p:txBody>
      </p:sp>
      <p:sp>
        <p:nvSpPr>
          <p:cNvPr id="6" name="perspective">
            <a:extLst xmlns:a="http://schemas.openxmlformats.org/drawingml/2006/main">
              <a:ext uri="{FF2B5EF4-FFF2-40B4-BE49-F238E27FC236}">
                <a16:creationId xmlns:a16="http://schemas.microsoft.com/office/drawing/2014/main" id="{E74C2D60-4B67-4159-92CA-B221E2F38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572000"/>
            <a:ext cx="3429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2C5F5D"/>
                </a:solidFill>
              </a:defRPr>
            </a:pPr>
            <a:r>
              <a:rPr sz="2625" b="1">
                <a:solidFill>
                  <a:srgbClr val="2C5F5D"/>
                </a:solidFill>
              </a:rPr>
              <a:t>강점</a:t>
            </a:r>
          </a:p>
          <a:p xmlns:a="http://schemas.openxmlformats.org/drawingml/2006/main">
            <a:pPr algn="l">
              <a:buNone/>
              <a:defRPr sz="2625" b="1">
                <a:solidFill>
                  <a:srgbClr val="2C5F5D"/>
                </a:solidFill>
              </a:defRPr>
            </a:pPr>
            <a:r>
              <a:rPr sz="2625" b="1">
                <a:solidFill>
                  <a:srgbClr val="2C5F5D"/>
                </a:solidFill>
              </a:rPr>
              <a:t>여러 요소가 결합해</a:t>
            </a:r>
          </a:p>
          <a:p xmlns:a="http://schemas.openxmlformats.org/drawingml/2006/main">
            <a:pPr algn="l">
              <a:buNone/>
              <a:defRPr sz="2625" b="1">
                <a:solidFill>
                  <a:srgbClr val="2C5F5D"/>
                </a:solidFill>
              </a:defRPr>
            </a:pPr>
            <a:r>
              <a:rPr sz="2625" b="1">
                <a:solidFill>
                  <a:srgbClr val="2C5F5D"/>
                </a:solidFill>
              </a:rPr>
              <a:t>반복적으로 내는 유익</a:t>
            </a:r>
          </a:p>
        </p:txBody>
      </p:sp>
      <p:sp>
        <p:nvSpPr>
          <p:cNvPr id="7" name="detail">
            <a:extLst xmlns:a="http://schemas.openxmlformats.org/drawingml/2006/main">
              <a:ext uri="{FF2B5EF4-FFF2-40B4-BE49-F238E27FC236}">
                <a16:creationId xmlns:a16="http://schemas.microsoft.com/office/drawing/2014/main" id="{551C18F8-4C76-4AD1-A614-831FBA3A8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7086600"/>
            <a:ext cx="3619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4B4B4B"/>
                </a:solidFill>
              </a:defRPr>
            </a:pPr>
            <a:r>
              <a:rPr sz="1875" b="0">
                <a:solidFill>
                  <a:srgbClr val="4B4B4B"/>
                </a:solidFill>
              </a:rPr>
              <a:t>가능성은 실제 역할과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4B4B4B"/>
                </a:solidFill>
              </a:defRPr>
            </a:pPr>
            <a:r>
              <a:rPr sz="1875" b="0">
                <a:solidFill>
                  <a:srgbClr val="4B4B4B"/>
                </a:solidFill>
              </a:rPr>
              <a:t>결과 속에서 검증됩니다.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20F354F-180A-44B8-A9B8-23AE6E271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734800"/>
            <a:ext cx="733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9A670"/>
                </a:solidFill>
              </a:defRPr>
            </a:pPr>
            <a:r>
              <a:rPr sz="1275" b="0">
                <a:solidFill>
                  <a:srgbClr val="D9A670"/>
                </a:solidFill>
              </a:rPr>
              <a:t>04 / 08  ·  SKILLS AND STRENGTHS</a:t>
            </a:r>
          </a:p>
        </p:txBody>
      </p:sp>
    </p:spTree>
    <p:extLst>
      <p:ext uri="{BB962C8B-B14F-4D97-AF65-F5344CB8AC3E}">
        <p14:creationId xmlns:p14="http://schemas.microsoft.com/office/powerpoint/2010/main" val="15977614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op-rule">
            <a:extLst xmlns:a="http://schemas.openxmlformats.org/drawingml/2006/main">
              <a:ext uri="{FF2B5EF4-FFF2-40B4-BE49-F238E27FC236}">
                <a16:creationId xmlns:a16="http://schemas.microsoft.com/office/drawing/2014/main" id="{96BF35E8-C15A-472C-9454-6D9B03347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200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A670"/>
            </a:solidFill>
            <a:prstDash val="solid"/>
          </a:ln>
        </p:spPr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B88459A4-72A7-4828-A9C4-238175DBB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1440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D9A670"/>
                </a:solidFill>
              </a:defRPr>
            </a:pPr>
            <a:r>
              <a:rPr sz="1425" b="1">
                <a:solidFill>
                  <a:srgbClr val="D9A670"/>
                </a:solidFill>
              </a:rPr>
              <a:t>ISSUE 04 · 공동의 유익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2F79E0C-B867-4783-8C4D-3CC1C69B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8953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2C5F5D"/>
                </a:solidFill>
              </a:defRPr>
            </a:pPr>
            <a:r>
              <a:rPr sz="3600" b="1">
                <a:solidFill>
                  <a:srgbClr val="2C5F5D"/>
                </a:solidFill>
              </a:rPr>
              <a:t>은사는 우월함의 표지가 아니라</a:t>
            </a:r>
          </a:p>
          <a:p xmlns:a="http://schemas.openxmlformats.org/drawingml/2006/main">
            <a:pPr algn="l">
              <a:buNone/>
              <a:defRPr sz="3600" b="1">
                <a:solidFill>
                  <a:srgbClr val="2C5F5D"/>
                </a:solidFill>
              </a:defRPr>
            </a:pPr>
            <a:r>
              <a:rPr sz="3600" b="1">
                <a:solidFill>
                  <a:srgbClr val="2C5F5D"/>
                </a:solidFill>
              </a:rPr>
              <a:t>공동체를 세우는 선물입니다</a:t>
            </a:r>
          </a:p>
        </p:txBody>
      </p:sp>
      <p:sp>
        <p:nvSpPr>
          <p:cNvPr id="4" name="concept-0">
            <a:extLst xmlns:a="http://schemas.openxmlformats.org/drawingml/2006/main">
              <a:ext uri="{FF2B5EF4-FFF2-40B4-BE49-F238E27FC236}">
                <a16:creationId xmlns:a16="http://schemas.microsoft.com/office/drawing/2014/main" id="{D6B005DC-6C7A-44D8-AF48-3407BFE0E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33875"/>
            <a:ext cx="27813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D9A670"/>
            </a:solidFill>
            <a:prstDash val="solid"/>
          </a:ln>
        </p:spPr>
      </p:sp>
      <p:sp>
        <p:nvSpPr>
          <p:cNvPr id="5" name="concept-title-0">
            <a:extLst xmlns:a="http://schemas.openxmlformats.org/drawingml/2006/main">
              <a:ext uri="{FF2B5EF4-FFF2-40B4-BE49-F238E27FC236}">
                <a16:creationId xmlns:a16="http://schemas.microsoft.com/office/drawing/2014/main" id="{CF31CBAA-933C-4C08-8ED9-D3E5E4C6F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86300"/>
            <a:ext cx="2324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3075" b="1">
                <a:solidFill>
                  <a:srgbClr val="2C5F5D"/>
                </a:solidFill>
              </a:defRPr>
            </a:pPr>
            <a:r>
              <a:rPr sz="3075" b="1">
                <a:solidFill>
                  <a:srgbClr val="2C5F5D"/>
                </a:solidFill>
              </a:rPr>
              <a:t>다양성</a:t>
            </a:r>
          </a:p>
        </p:txBody>
      </p:sp>
      <p:sp>
        <p:nvSpPr>
          <p:cNvPr id="6" name="concept-body-0">
            <a:extLst xmlns:a="http://schemas.openxmlformats.org/drawingml/2006/main">
              <a:ext uri="{FF2B5EF4-FFF2-40B4-BE49-F238E27FC236}">
                <a16:creationId xmlns:a16="http://schemas.microsoft.com/office/drawing/2014/main" id="{A27A4E19-927A-4CF1-9403-57F062798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81650"/>
            <a:ext cx="2362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4B4B4B"/>
                </a:solidFill>
              </a:defRPr>
            </a:pPr>
            <a:r>
              <a:rPr sz="1800" b="0">
                <a:solidFill>
                  <a:srgbClr val="4B4B4B"/>
                </a:solidFill>
              </a:rPr>
              <a:t>은사·직분·사역은</a:t>
            </a:r>
          </a:p>
          <a:p xmlns:a="http://schemas.openxmlformats.org/drawingml/2006/main">
            <a:pPr algn="ctr">
              <a:buNone/>
              <a:defRPr sz="1800" b="0">
                <a:solidFill>
                  <a:srgbClr val="4B4B4B"/>
                </a:solidFill>
              </a:defRPr>
            </a:pPr>
            <a:r>
              <a:rPr sz="1800" b="0">
                <a:solidFill>
                  <a:srgbClr val="4B4B4B"/>
                </a:solidFill>
              </a:rPr>
              <a:t>서로 다릅니다</a:t>
            </a:r>
          </a:p>
        </p:txBody>
      </p:sp>
      <p:sp>
        <p:nvSpPr>
          <p:cNvPr id="7" name="arrow-0">
            <a:extLst xmlns:a="http://schemas.openxmlformats.org/drawingml/2006/main">
              <a:ext uri="{FF2B5EF4-FFF2-40B4-BE49-F238E27FC236}">
                <a16:creationId xmlns:a16="http://schemas.microsoft.com/office/drawing/2014/main" id="{D4E0F63C-6AF3-4FAB-8A43-104F565F1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381625"/>
            <a:ext cx="400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625" b="1">
                <a:solidFill>
                  <a:srgbClr val="D9A670"/>
                </a:solidFill>
              </a:defRPr>
            </a:pPr>
            <a:r>
              <a:rPr sz="2625" b="1">
                <a:solidFill>
                  <a:srgbClr val="D9A670"/>
                </a:solidFill>
              </a:rPr>
              <a:t>→</a:t>
            </a:r>
          </a:p>
        </p:txBody>
      </p:sp>
      <p:sp>
        <p:nvSpPr>
          <p:cNvPr id="8" name="concept-1">
            <a:extLst xmlns:a="http://schemas.openxmlformats.org/drawingml/2006/main">
              <a:ext uri="{FF2B5EF4-FFF2-40B4-BE49-F238E27FC236}">
                <a16:creationId xmlns:a16="http://schemas.microsoft.com/office/drawing/2014/main" id="{194E93BF-FD2E-4CEC-814E-BBFED3105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333875"/>
            <a:ext cx="27813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38100">
            <a:solidFill>
              <a:srgbClr val="D9A670"/>
            </a:solidFill>
            <a:prstDash val="solid"/>
          </a:ln>
        </p:spPr>
      </p:sp>
      <p:sp>
        <p:nvSpPr>
          <p:cNvPr id="9" name="concept-title-1">
            <a:extLst xmlns:a="http://schemas.openxmlformats.org/drawingml/2006/main">
              <a:ext uri="{FF2B5EF4-FFF2-40B4-BE49-F238E27FC236}">
                <a16:creationId xmlns:a16="http://schemas.microsoft.com/office/drawing/2014/main" id="{6837FF8D-4864-42C3-8130-4C14E2DDF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686300"/>
            <a:ext cx="2324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3075" b="1">
                <a:solidFill>
                  <a:srgbClr val="D9A670"/>
                </a:solidFill>
              </a:defRPr>
            </a:pPr>
            <a:r>
              <a:rPr sz="3075" b="1">
                <a:solidFill>
                  <a:srgbClr val="D9A670"/>
                </a:solidFill>
              </a:rPr>
              <a:t>한 성령</a:t>
            </a:r>
          </a:p>
        </p:txBody>
      </p:sp>
      <p:sp>
        <p:nvSpPr>
          <p:cNvPr id="10" name="concept-body-1">
            <a:extLst xmlns:a="http://schemas.openxmlformats.org/drawingml/2006/main">
              <a:ext uri="{FF2B5EF4-FFF2-40B4-BE49-F238E27FC236}">
                <a16:creationId xmlns:a16="http://schemas.microsoft.com/office/drawing/2014/main" id="{9CE10F91-4AA0-4065-B759-ACDA36C74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581650"/>
            <a:ext cx="2362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4B4B4B"/>
                </a:solidFill>
              </a:defRPr>
            </a:pPr>
            <a:r>
              <a:rPr sz="1800" b="0">
                <a:solidFill>
                  <a:srgbClr val="4B4B4B"/>
                </a:solidFill>
              </a:rPr>
              <a:t>다양한 선물을</a:t>
            </a:r>
          </a:p>
          <a:p xmlns:a="http://schemas.openxmlformats.org/drawingml/2006/main">
            <a:pPr algn="ctr">
              <a:buNone/>
              <a:defRPr sz="1800" b="0">
                <a:solidFill>
                  <a:srgbClr val="4B4B4B"/>
                </a:solidFill>
              </a:defRPr>
            </a:pPr>
            <a:r>
              <a:rPr sz="1800" b="0">
                <a:solidFill>
                  <a:srgbClr val="4B4B4B"/>
                </a:solidFill>
              </a:rPr>
              <a:t>나누어 주십니다</a:t>
            </a:r>
          </a:p>
        </p:txBody>
      </p:sp>
      <p:sp>
        <p:nvSpPr>
          <p:cNvPr id="11" name="arrow-1">
            <a:extLst xmlns:a="http://schemas.openxmlformats.org/drawingml/2006/main">
              <a:ext uri="{FF2B5EF4-FFF2-40B4-BE49-F238E27FC236}">
                <a16:creationId xmlns:a16="http://schemas.microsoft.com/office/drawing/2014/main" id="{FA27353B-2A63-41E7-95F3-AA680EF2C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381625"/>
            <a:ext cx="400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625" b="1">
                <a:solidFill>
                  <a:srgbClr val="D9A670"/>
                </a:solidFill>
              </a:defRPr>
            </a:pPr>
            <a:r>
              <a:rPr sz="2625" b="1">
                <a:solidFill>
                  <a:srgbClr val="D9A670"/>
                </a:solidFill>
              </a:rPr>
              <a:t>→</a:t>
            </a:r>
          </a:p>
        </p:txBody>
      </p:sp>
      <p:sp>
        <p:nvSpPr>
          <p:cNvPr id="12" name="concept-2">
            <a:extLst xmlns:a="http://schemas.openxmlformats.org/drawingml/2006/main">
              <a:ext uri="{FF2B5EF4-FFF2-40B4-BE49-F238E27FC236}">
                <a16:creationId xmlns:a16="http://schemas.microsoft.com/office/drawing/2014/main" id="{D2239B5E-6272-47B5-A0D8-BE93E741F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333875"/>
            <a:ext cx="27813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D9A670"/>
            </a:solidFill>
            <a:prstDash val="solid"/>
          </a:ln>
        </p:spPr>
      </p:sp>
      <p:sp>
        <p:nvSpPr>
          <p:cNvPr id="13" name="concept-title-2">
            <a:extLst xmlns:a="http://schemas.openxmlformats.org/drawingml/2006/main">
              <a:ext uri="{FF2B5EF4-FFF2-40B4-BE49-F238E27FC236}">
                <a16:creationId xmlns:a16="http://schemas.microsoft.com/office/drawing/2014/main" id="{635C9BF2-CA5C-4ACA-9427-72C375BFB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686300"/>
            <a:ext cx="2324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3075" b="1">
                <a:solidFill>
                  <a:srgbClr val="2C5F5D"/>
                </a:solidFill>
              </a:defRPr>
            </a:pPr>
            <a:r>
              <a:rPr sz="3075" b="1">
                <a:solidFill>
                  <a:srgbClr val="2C5F5D"/>
                </a:solidFill>
              </a:rPr>
              <a:t>공동 유익</a:t>
            </a:r>
          </a:p>
        </p:txBody>
      </p:sp>
      <p:sp>
        <p:nvSpPr>
          <p:cNvPr id="14" name="concept-body-2">
            <a:extLst xmlns:a="http://schemas.openxmlformats.org/drawingml/2006/main">
              <a:ext uri="{FF2B5EF4-FFF2-40B4-BE49-F238E27FC236}">
                <a16:creationId xmlns:a16="http://schemas.microsoft.com/office/drawing/2014/main" id="{77F93D9F-A156-4A25-89B7-5D287C84F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581650"/>
            <a:ext cx="2362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4B4B4B"/>
                </a:solidFill>
              </a:defRPr>
            </a:pPr>
            <a:r>
              <a:rPr sz="1800" b="0">
                <a:solidFill>
                  <a:srgbClr val="4B4B4B"/>
                </a:solidFill>
              </a:rPr>
              <a:t>서로를 세우고</a:t>
            </a:r>
          </a:p>
          <a:p xmlns:a="http://schemas.openxmlformats.org/drawingml/2006/main">
            <a:pPr algn="ctr">
              <a:buNone/>
              <a:defRPr sz="1800" b="0">
                <a:solidFill>
                  <a:srgbClr val="4B4B4B"/>
                </a:solidFill>
              </a:defRPr>
            </a:pPr>
            <a:r>
              <a:rPr sz="1800" b="0">
                <a:solidFill>
                  <a:srgbClr val="4B4B4B"/>
                </a:solidFill>
              </a:rPr>
              <a:t>섬기게 합니다</a:t>
            </a:r>
          </a:p>
        </p:txBody>
      </p:sp>
      <p:sp>
        <p:nvSpPr>
          <p:cNvPr id="15" name="summary">
            <a:extLst xmlns:a="http://schemas.openxmlformats.org/drawingml/2006/main">
              <a:ext uri="{FF2B5EF4-FFF2-40B4-BE49-F238E27FC236}">
                <a16:creationId xmlns:a16="http://schemas.microsoft.com/office/drawing/2014/main" id="{A3C93557-A415-42EF-96AF-7D4124A4B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8286750"/>
            <a:ext cx="6858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2C5F5D"/>
                </a:solidFill>
              </a:defRPr>
            </a:pPr>
            <a:r>
              <a:rPr sz="2400" b="1">
                <a:solidFill>
                  <a:srgbClr val="2C5F5D"/>
                </a:solidFill>
              </a:rPr>
              <a:t>“나는 무엇을 가졌는가?”보다</a:t>
            </a:r>
          </a:p>
          <a:p xmlns:a="http://schemas.openxmlformats.org/drawingml/2006/main">
            <a:pPr algn="ctr">
              <a:buNone/>
              <a:defRPr sz="2400" b="1">
                <a:solidFill>
                  <a:srgbClr val="2C5F5D"/>
                </a:solidFill>
              </a:defRPr>
            </a:pPr>
            <a:r>
              <a:rPr sz="2400" b="1">
                <a:solidFill>
                  <a:srgbClr val="2C5F5D"/>
                </a:solidFill>
              </a:rPr>
              <a:t>“누구에게 어떤 유익을 주는가?”</a:t>
            </a:r>
          </a:p>
        </p:txBody>
      </p:sp>
      <p:sp>
        <p:nvSpPr>
          <p:cNvPr id="16" name="source">
            <a:extLst xmlns:a="http://schemas.openxmlformats.org/drawingml/2006/main">
              <a:ext uri="{FF2B5EF4-FFF2-40B4-BE49-F238E27FC236}">
                <a16:creationId xmlns:a16="http://schemas.microsoft.com/office/drawing/2014/main" id="{C86DED2C-83D4-4B33-A0E5-AF0C2AB80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36320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A3A3A3"/>
                </a:solidFill>
              </a:defRPr>
            </a:pPr>
            <a:r>
              <a:rPr sz="1575" b="0">
                <a:solidFill>
                  <a:srgbClr val="A3A3A3"/>
                </a:solidFill>
              </a:rPr>
              <a:t>출처: 고린도전서 12:4–7 · 개역개정</a:t>
            </a:r>
          </a:p>
        </p:txBody>
      </p:sp>
      <p:sp>
        <p:nvSpPr>
          <p:cNvPr id="1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682201C-0DFB-4F33-A56F-34DC1E67E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734800"/>
            <a:ext cx="733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9A670"/>
                </a:solidFill>
              </a:defRPr>
            </a:pPr>
            <a:r>
              <a:rPr sz="1275" b="0">
                <a:solidFill>
                  <a:srgbClr val="D9A670"/>
                </a:solidFill>
              </a:rPr>
              <a:t>05 / 08  ·  FOR THE COMMON GOOD</a:t>
            </a:r>
          </a:p>
        </p:txBody>
      </p:sp>
    </p:spTree>
    <p:extLst>
      <p:ext uri="{BB962C8B-B14F-4D97-AF65-F5344CB8AC3E}">
        <p14:creationId xmlns:p14="http://schemas.microsoft.com/office/powerpoint/2010/main" val="9289327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op-rule">
            <a:extLst xmlns:a="http://schemas.openxmlformats.org/drawingml/2006/main">
              <a:ext uri="{FF2B5EF4-FFF2-40B4-BE49-F238E27FC236}">
                <a16:creationId xmlns:a16="http://schemas.microsoft.com/office/drawing/2014/main" id="{96BF35E8-C15A-472C-9454-6D9B03347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200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A670"/>
            </a:solidFill>
            <a:prstDash val="solid"/>
          </a:ln>
        </p:spPr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B88459A4-72A7-4828-A9C4-238175DBB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1440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D9A670"/>
                </a:solidFill>
              </a:defRPr>
            </a:pPr>
            <a:r>
              <a:rPr sz="1425" b="1">
                <a:solidFill>
                  <a:srgbClr val="D9A670"/>
                </a:solidFill>
              </a:rPr>
              <a:t>SOLUTION · 선한 청지기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2F79E0C-B867-4783-8C4D-3CC1C69B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8953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2C5F5D"/>
                </a:solidFill>
              </a:defRPr>
            </a:pPr>
            <a:r>
              <a:rPr sz="3600" b="1">
                <a:solidFill>
                  <a:srgbClr val="2C5F5D"/>
                </a:solidFill>
              </a:rPr>
              <a:t>맡겨진 능력은</a:t>
            </a:r>
          </a:p>
          <a:p xmlns:a="http://schemas.openxmlformats.org/drawingml/2006/main">
            <a:pPr algn="l">
              <a:buNone/>
              <a:defRPr sz="3600" b="1">
                <a:solidFill>
                  <a:srgbClr val="2C5F5D"/>
                </a:solidFill>
              </a:defRPr>
            </a:pPr>
            <a:r>
              <a:rPr sz="3600" b="1">
                <a:solidFill>
                  <a:srgbClr val="2C5F5D"/>
                </a:solidFill>
              </a:rPr>
              <a:t>섬김 속에서 의미를 얻습니다</a:t>
            </a:r>
          </a:p>
        </p:txBody>
      </p:sp>
      <p:sp>
        <p:nvSpPr>
          <p:cNvPr id="4" name="concept-0">
            <a:extLst xmlns:a="http://schemas.openxmlformats.org/drawingml/2006/main">
              <a:ext uri="{FF2B5EF4-FFF2-40B4-BE49-F238E27FC236}">
                <a16:creationId xmlns:a16="http://schemas.microsoft.com/office/drawing/2014/main" id="{D6B005DC-6C7A-44D8-AF48-3407BFE0E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33875"/>
            <a:ext cx="27813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D9A670"/>
            </a:solidFill>
            <a:prstDash val="solid"/>
          </a:ln>
        </p:spPr>
      </p:sp>
      <p:sp>
        <p:nvSpPr>
          <p:cNvPr id="5" name="concept-title-0">
            <a:extLst xmlns:a="http://schemas.openxmlformats.org/drawingml/2006/main">
              <a:ext uri="{FF2B5EF4-FFF2-40B4-BE49-F238E27FC236}">
                <a16:creationId xmlns:a16="http://schemas.microsoft.com/office/drawing/2014/main" id="{CF31CBAA-933C-4C08-8ED9-D3E5E4C6F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86300"/>
            <a:ext cx="2324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3075" b="1">
                <a:solidFill>
                  <a:srgbClr val="2C5F5D"/>
                </a:solidFill>
              </a:defRPr>
            </a:pPr>
            <a:r>
              <a:rPr sz="3075" b="1">
                <a:solidFill>
                  <a:srgbClr val="2C5F5D"/>
                </a:solidFill>
              </a:rPr>
              <a:t>받음</a:t>
            </a:r>
          </a:p>
        </p:txBody>
      </p:sp>
      <p:sp>
        <p:nvSpPr>
          <p:cNvPr id="6" name="concept-body-0">
            <a:extLst xmlns:a="http://schemas.openxmlformats.org/drawingml/2006/main">
              <a:ext uri="{FF2B5EF4-FFF2-40B4-BE49-F238E27FC236}">
                <a16:creationId xmlns:a16="http://schemas.microsoft.com/office/drawing/2014/main" id="{A27A4E19-927A-4CF1-9403-57F062798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81650"/>
            <a:ext cx="2362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4B4B4B"/>
                </a:solidFill>
              </a:defRPr>
            </a:pPr>
            <a:r>
              <a:rPr sz="1800" b="0">
                <a:solidFill>
                  <a:srgbClr val="4B4B4B"/>
                </a:solidFill>
              </a:rPr>
              <a:t>나에게 주어진</a:t>
            </a:r>
          </a:p>
          <a:p xmlns:a="http://schemas.openxmlformats.org/drawingml/2006/main">
            <a:pPr algn="ctr">
              <a:buNone/>
              <a:defRPr sz="1800" b="0">
                <a:solidFill>
                  <a:srgbClr val="4B4B4B"/>
                </a:solidFill>
              </a:defRPr>
            </a:pPr>
            <a:r>
              <a:rPr sz="1800" b="0">
                <a:solidFill>
                  <a:srgbClr val="4B4B4B"/>
                </a:solidFill>
              </a:rPr>
              <a:t>자원을 발견합니다</a:t>
            </a:r>
          </a:p>
        </p:txBody>
      </p:sp>
      <p:sp>
        <p:nvSpPr>
          <p:cNvPr id="7" name="arrow-0">
            <a:extLst xmlns:a="http://schemas.openxmlformats.org/drawingml/2006/main">
              <a:ext uri="{FF2B5EF4-FFF2-40B4-BE49-F238E27FC236}">
                <a16:creationId xmlns:a16="http://schemas.microsoft.com/office/drawing/2014/main" id="{D4E0F63C-6AF3-4FAB-8A43-104F565F1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381625"/>
            <a:ext cx="400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625" b="1">
                <a:solidFill>
                  <a:srgbClr val="D9A670"/>
                </a:solidFill>
              </a:defRPr>
            </a:pPr>
            <a:r>
              <a:rPr sz="2625" b="1">
                <a:solidFill>
                  <a:srgbClr val="D9A670"/>
                </a:solidFill>
              </a:rPr>
              <a:t>→</a:t>
            </a:r>
          </a:p>
        </p:txBody>
      </p:sp>
      <p:sp>
        <p:nvSpPr>
          <p:cNvPr id="8" name="concept-1">
            <a:extLst xmlns:a="http://schemas.openxmlformats.org/drawingml/2006/main">
              <a:ext uri="{FF2B5EF4-FFF2-40B4-BE49-F238E27FC236}">
                <a16:creationId xmlns:a16="http://schemas.microsoft.com/office/drawing/2014/main" id="{194E93BF-FD2E-4CEC-814E-BBFED3105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333875"/>
            <a:ext cx="27813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38100">
            <a:solidFill>
              <a:srgbClr val="D9A670"/>
            </a:solidFill>
            <a:prstDash val="solid"/>
          </a:ln>
        </p:spPr>
      </p:sp>
      <p:sp>
        <p:nvSpPr>
          <p:cNvPr id="9" name="concept-title-1">
            <a:extLst xmlns:a="http://schemas.openxmlformats.org/drawingml/2006/main">
              <a:ext uri="{FF2B5EF4-FFF2-40B4-BE49-F238E27FC236}">
                <a16:creationId xmlns:a16="http://schemas.microsoft.com/office/drawing/2014/main" id="{6837FF8D-4864-42C3-8130-4C14E2DDF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686300"/>
            <a:ext cx="2324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3075" b="1">
                <a:solidFill>
                  <a:srgbClr val="D9A670"/>
                </a:solidFill>
              </a:defRPr>
            </a:pPr>
            <a:r>
              <a:rPr sz="3075" b="1">
                <a:solidFill>
                  <a:srgbClr val="D9A670"/>
                </a:solidFill>
              </a:rPr>
              <a:t>돌봄</a:t>
            </a:r>
          </a:p>
        </p:txBody>
      </p:sp>
      <p:sp>
        <p:nvSpPr>
          <p:cNvPr id="10" name="concept-body-1">
            <a:extLst xmlns:a="http://schemas.openxmlformats.org/drawingml/2006/main">
              <a:ext uri="{FF2B5EF4-FFF2-40B4-BE49-F238E27FC236}">
                <a16:creationId xmlns:a16="http://schemas.microsoft.com/office/drawing/2014/main" id="{9CE10F91-4AA0-4065-B759-ACDA36C74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581650"/>
            <a:ext cx="2362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4B4B4B"/>
                </a:solidFill>
              </a:defRPr>
            </a:pPr>
            <a:r>
              <a:rPr sz="1800" b="0">
                <a:solidFill>
                  <a:srgbClr val="4B4B4B"/>
                </a:solidFill>
              </a:rPr>
              <a:t>훈련과 피드백으로</a:t>
            </a:r>
          </a:p>
          <a:p xmlns:a="http://schemas.openxmlformats.org/drawingml/2006/main">
            <a:pPr algn="ctr">
              <a:buNone/>
              <a:defRPr sz="1800" b="0">
                <a:solidFill>
                  <a:srgbClr val="4B4B4B"/>
                </a:solidFill>
              </a:defRPr>
            </a:pPr>
            <a:r>
              <a:rPr sz="1800" b="0">
                <a:solidFill>
                  <a:srgbClr val="4B4B4B"/>
                </a:solidFill>
              </a:rPr>
              <a:t>성실하게 돌봅니다</a:t>
            </a:r>
          </a:p>
        </p:txBody>
      </p:sp>
      <p:sp>
        <p:nvSpPr>
          <p:cNvPr id="11" name="arrow-1">
            <a:extLst xmlns:a="http://schemas.openxmlformats.org/drawingml/2006/main">
              <a:ext uri="{FF2B5EF4-FFF2-40B4-BE49-F238E27FC236}">
                <a16:creationId xmlns:a16="http://schemas.microsoft.com/office/drawing/2014/main" id="{FA27353B-2A63-41E7-95F3-AA680EF2C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381625"/>
            <a:ext cx="4000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625" b="1">
                <a:solidFill>
                  <a:srgbClr val="D9A670"/>
                </a:solidFill>
              </a:defRPr>
            </a:pPr>
            <a:r>
              <a:rPr sz="2625" b="1">
                <a:solidFill>
                  <a:srgbClr val="D9A670"/>
                </a:solidFill>
              </a:rPr>
              <a:t>→</a:t>
            </a:r>
          </a:p>
        </p:txBody>
      </p:sp>
      <p:sp>
        <p:nvSpPr>
          <p:cNvPr id="12" name="concept-2">
            <a:extLst xmlns:a="http://schemas.openxmlformats.org/drawingml/2006/main">
              <a:ext uri="{FF2B5EF4-FFF2-40B4-BE49-F238E27FC236}">
                <a16:creationId xmlns:a16="http://schemas.microsoft.com/office/drawing/2014/main" id="{D2239B5E-6272-47B5-A0D8-BE93E741F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333875"/>
            <a:ext cx="27813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D9A670"/>
            </a:solidFill>
            <a:prstDash val="solid"/>
          </a:ln>
        </p:spPr>
      </p:sp>
      <p:sp>
        <p:nvSpPr>
          <p:cNvPr id="13" name="concept-title-2">
            <a:extLst xmlns:a="http://schemas.openxmlformats.org/drawingml/2006/main">
              <a:ext uri="{FF2B5EF4-FFF2-40B4-BE49-F238E27FC236}">
                <a16:creationId xmlns:a16="http://schemas.microsoft.com/office/drawing/2014/main" id="{635C9BF2-CA5C-4ACA-9427-72C375BFB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686300"/>
            <a:ext cx="2324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3075" b="1">
                <a:solidFill>
                  <a:srgbClr val="2C5F5D"/>
                </a:solidFill>
              </a:defRPr>
            </a:pPr>
            <a:r>
              <a:rPr sz="3075" b="1">
                <a:solidFill>
                  <a:srgbClr val="2C5F5D"/>
                </a:solidFill>
              </a:rPr>
              <a:t>사용</a:t>
            </a:r>
          </a:p>
        </p:txBody>
      </p:sp>
      <p:sp>
        <p:nvSpPr>
          <p:cNvPr id="14" name="concept-body-2">
            <a:extLst xmlns:a="http://schemas.openxmlformats.org/drawingml/2006/main">
              <a:ext uri="{FF2B5EF4-FFF2-40B4-BE49-F238E27FC236}">
                <a16:creationId xmlns:a16="http://schemas.microsoft.com/office/drawing/2014/main" id="{77F93D9F-A156-4A25-89B7-5D287C84F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581650"/>
            <a:ext cx="2362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4B4B4B"/>
                </a:solidFill>
              </a:defRPr>
            </a:pPr>
            <a:r>
              <a:rPr sz="1800" b="0">
                <a:solidFill>
                  <a:srgbClr val="4B4B4B"/>
                </a:solidFill>
              </a:rPr>
              <a:t>오늘의 자리에서</a:t>
            </a:r>
          </a:p>
          <a:p xmlns:a="http://schemas.openxmlformats.org/drawingml/2006/main">
            <a:pPr algn="ctr">
              <a:buNone/>
              <a:defRPr sz="1800" b="0">
                <a:solidFill>
                  <a:srgbClr val="4B4B4B"/>
                </a:solidFill>
              </a:defRPr>
            </a:pPr>
            <a:r>
              <a:rPr sz="1800" b="0">
                <a:solidFill>
                  <a:srgbClr val="4B4B4B"/>
                </a:solidFill>
              </a:rPr>
              <a:t>서로를 섬깁니다</a:t>
            </a:r>
          </a:p>
        </p:txBody>
      </p:sp>
      <p:sp>
        <p:nvSpPr>
          <p:cNvPr id="15" name="summary">
            <a:extLst xmlns:a="http://schemas.openxmlformats.org/drawingml/2006/main">
              <a:ext uri="{FF2B5EF4-FFF2-40B4-BE49-F238E27FC236}">
                <a16:creationId xmlns:a16="http://schemas.microsoft.com/office/drawing/2014/main" id="{A3C93557-A415-42EF-96AF-7D4124A4B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8286750"/>
            <a:ext cx="6858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2C5F5D"/>
                </a:solidFill>
              </a:defRPr>
            </a:pPr>
            <a:r>
              <a:rPr sz="2400" b="1">
                <a:solidFill>
                  <a:srgbClr val="2C5F5D"/>
                </a:solidFill>
              </a:rPr>
              <a:t>받은 은사는 서로 봉사하는 데 사용합니다.</a:t>
            </a:r>
          </a:p>
        </p:txBody>
      </p:sp>
      <p:sp>
        <p:nvSpPr>
          <p:cNvPr id="16" name="source">
            <a:extLst xmlns:a="http://schemas.openxmlformats.org/drawingml/2006/main">
              <a:ext uri="{FF2B5EF4-FFF2-40B4-BE49-F238E27FC236}">
                <a16:creationId xmlns:a16="http://schemas.microsoft.com/office/drawing/2014/main" id="{C86DED2C-83D4-4B33-A0E5-AF0C2AB80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36320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A3A3A3"/>
                </a:solidFill>
              </a:defRPr>
            </a:pPr>
            <a:r>
              <a:rPr sz="1575" b="0">
                <a:solidFill>
                  <a:srgbClr val="A3A3A3"/>
                </a:solidFill>
              </a:rPr>
              <a:t>출처: 베드로전서 4:10–11 · 개역개정</a:t>
            </a:r>
          </a:p>
        </p:txBody>
      </p:sp>
      <p:sp>
        <p:nvSpPr>
          <p:cNvPr id="1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682201C-0DFB-4F33-A56F-34DC1E67E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734800"/>
            <a:ext cx="733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9A670"/>
                </a:solidFill>
              </a:defRPr>
            </a:pPr>
            <a:r>
              <a:rPr sz="1275" b="0">
                <a:solidFill>
                  <a:srgbClr val="D9A670"/>
                </a:solidFill>
              </a:rPr>
              <a:t>06 / 08  ·  FAITHFUL STEWARDSHIP</a:t>
            </a:r>
          </a:p>
        </p:txBody>
      </p:sp>
    </p:spTree>
    <p:extLst>
      <p:ext uri="{BB962C8B-B14F-4D97-AF65-F5344CB8AC3E}">
        <p14:creationId xmlns:p14="http://schemas.microsoft.com/office/powerpoint/2010/main" val="9289327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-rule">
            <a:extLst xmlns:a="http://schemas.openxmlformats.org/drawingml/2006/main">
              <a:ext uri="{FF2B5EF4-FFF2-40B4-BE49-F238E27FC236}">
                <a16:creationId xmlns:a16="http://schemas.microsoft.com/office/drawing/2014/main" id="{4C5A63BE-604D-4CFC-BBA5-3509AB10E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200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A670"/>
            </a:solidFill>
            <a:prstDash val="solid"/>
          </a:ln>
        </p:spPr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ED60C6EE-6853-4394-97C9-98A1584E1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1440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D9A670"/>
                </a:solidFill>
              </a:defRPr>
            </a:pPr>
            <a:r>
              <a:rPr sz="1425" b="1">
                <a:solidFill>
                  <a:srgbClr val="D9A670"/>
                </a:solidFill>
              </a:rPr>
              <a:t>BOUNDARY · Career Direct의 역할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C66FC5C-389C-401F-98FA-67D141AE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8953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2C5F5D"/>
                </a:solidFill>
              </a:defRPr>
            </a:pPr>
            <a:r>
              <a:rPr sz="3750" b="1">
                <a:solidFill>
                  <a:srgbClr val="2C5F5D"/>
                </a:solidFill>
              </a:rPr>
              <a:t>자기이해는 돕지만</a:t>
            </a:r>
          </a:p>
          <a:p xmlns:a="http://schemas.openxmlformats.org/drawingml/2006/main">
            <a:pPr algn="l">
              <a:buNone/>
              <a:defRPr sz="3750" b="1">
                <a:solidFill>
                  <a:srgbClr val="2C5F5D"/>
                </a:solidFill>
              </a:defRPr>
            </a:pPr>
            <a:r>
              <a:rPr sz="3750" b="1">
                <a:solidFill>
                  <a:srgbClr val="2C5F5D"/>
                </a:solidFill>
              </a:rPr>
              <a:t>소명을 판정하지 않습니다</a:t>
            </a:r>
          </a:p>
        </p:txBody>
      </p:sp>
      <p:sp>
        <p:nvSpPr>
          <p:cNvPr id="4" name="num-0">
            <a:extLst xmlns:a="http://schemas.openxmlformats.org/drawingml/2006/main">
              <a:ext uri="{FF2B5EF4-FFF2-40B4-BE49-F238E27FC236}">
                <a16:creationId xmlns:a16="http://schemas.microsoft.com/office/drawing/2014/main" id="{56D3C8D2-6CAE-4238-81E3-58B8882F7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914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D9A670"/>
                </a:solidFill>
              </a:defRPr>
            </a:pPr>
            <a:r>
              <a:rPr sz="2550" b="1">
                <a:solidFill>
                  <a:srgbClr val="D9A670"/>
                </a:solidFill>
              </a:rPr>
              <a:t>01</a:t>
            </a:r>
          </a:p>
        </p:txBody>
      </p:sp>
      <p:sp>
        <p:nvSpPr>
          <p:cNvPr id="5" name="item-line-0">
            <a:extLst xmlns:a="http://schemas.openxmlformats.org/drawingml/2006/main">
              <a:ext uri="{FF2B5EF4-FFF2-40B4-BE49-F238E27FC236}">
                <a16:creationId xmlns:a16="http://schemas.microsoft.com/office/drawing/2014/main" id="{402ECEF2-623D-4667-ADAA-2EB41D00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638675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670"/>
            </a:solidFill>
            <a:prstDash val="solid"/>
          </a:ln>
        </p:spPr>
      </p:sp>
      <p:sp>
        <p:nvSpPr>
          <p:cNvPr id="6" name="criterion-0">
            <a:extLst xmlns:a="http://schemas.openxmlformats.org/drawingml/2006/main">
              <a:ext uri="{FF2B5EF4-FFF2-40B4-BE49-F238E27FC236}">
                <a16:creationId xmlns:a16="http://schemas.microsoft.com/office/drawing/2014/main" id="{840FC111-4C2B-4EA3-A96E-5ABB0B1BB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95750"/>
            <a:ext cx="666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2C5F5D"/>
                </a:solidFill>
              </a:defRPr>
            </a:pPr>
            <a:r>
              <a:rPr sz="2625" b="1">
                <a:solidFill>
                  <a:srgbClr val="2C5F5D"/>
                </a:solidFill>
              </a:rPr>
              <a:t>성격 · 행동 방식</a:t>
            </a:r>
          </a:p>
        </p:txBody>
      </p:sp>
      <p:sp>
        <p:nvSpPr>
          <p:cNvPr id="7" name="num-1">
            <a:extLst xmlns:a="http://schemas.openxmlformats.org/drawingml/2006/main">
              <a:ext uri="{FF2B5EF4-FFF2-40B4-BE49-F238E27FC236}">
                <a16:creationId xmlns:a16="http://schemas.microsoft.com/office/drawing/2014/main" id="{F80BD015-F520-44F4-BAF5-F211D2183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91125"/>
            <a:ext cx="914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D9A670"/>
                </a:solidFill>
              </a:defRPr>
            </a:pPr>
            <a:r>
              <a:rPr sz="2550" b="1">
                <a:solidFill>
                  <a:srgbClr val="D9A670"/>
                </a:solidFill>
              </a:rPr>
              <a:t>02</a:t>
            </a:r>
          </a:p>
        </p:txBody>
      </p:sp>
      <p:sp>
        <p:nvSpPr>
          <p:cNvPr id="8" name="item-line-1">
            <a:extLst xmlns:a="http://schemas.openxmlformats.org/drawingml/2006/main">
              <a:ext uri="{FF2B5EF4-FFF2-40B4-BE49-F238E27FC236}">
                <a16:creationId xmlns:a16="http://schemas.microsoft.com/office/drawing/2014/main" id="{566371D6-EAF1-4B89-B813-8BA028D49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73405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670"/>
            </a:solidFill>
            <a:prstDash val="solid"/>
          </a:ln>
        </p:spPr>
      </p:sp>
      <p:sp>
        <p:nvSpPr>
          <p:cNvPr id="9" name="criterion-1">
            <a:extLst xmlns:a="http://schemas.openxmlformats.org/drawingml/2006/main">
              <a:ext uri="{FF2B5EF4-FFF2-40B4-BE49-F238E27FC236}">
                <a16:creationId xmlns:a16="http://schemas.microsoft.com/office/drawing/2014/main" id="{7FAFEF0D-8D63-402E-8D62-DFB7DEBF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191125"/>
            <a:ext cx="666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2C5F5D"/>
                </a:solidFill>
              </a:defRPr>
            </a:pPr>
            <a:r>
              <a:rPr sz="2625" b="1">
                <a:solidFill>
                  <a:srgbClr val="2C5F5D"/>
                </a:solidFill>
              </a:rPr>
              <a:t>흥미 · 몰입의 원천</a:t>
            </a:r>
          </a:p>
        </p:txBody>
      </p:sp>
      <p:sp>
        <p:nvSpPr>
          <p:cNvPr id="10" name="num-2">
            <a:extLst xmlns:a="http://schemas.openxmlformats.org/drawingml/2006/main">
              <a:ext uri="{FF2B5EF4-FFF2-40B4-BE49-F238E27FC236}">
                <a16:creationId xmlns:a16="http://schemas.microsoft.com/office/drawing/2014/main" id="{ACAE0056-EF01-415B-81C3-28A7F9C6E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0"/>
            <a:ext cx="914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D9A670"/>
                </a:solidFill>
              </a:defRPr>
            </a:pPr>
            <a:r>
              <a:rPr sz="2550" b="1">
                <a:solidFill>
                  <a:srgbClr val="D9A670"/>
                </a:solidFill>
              </a:rPr>
              <a:t>03</a:t>
            </a:r>
          </a:p>
        </p:txBody>
      </p:sp>
      <p:sp>
        <p:nvSpPr>
          <p:cNvPr id="11" name="item-line-2">
            <a:extLst xmlns:a="http://schemas.openxmlformats.org/drawingml/2006/main">
              <a:ext uri="{FF2B5EF4-FFF2-40B4-BE49-F238E27FC236}">
                <a16:creationId xmlns:a16="http://schemas.microsoft.com/office/drawing/2014/main" id="{DCF1CD34-47D0-4DBA-B077-9A2B3CD15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6829425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670"/>
            </a:solidFill>
            <a:prstDash val="solid"/>
          </a:ln>
        </p:spPr>
      </p:sp>
      <p:sp>
        <p:nvSpPr>
          <p:cNvPr id="12" name="criterion-2">
            <a:extLst xmlns:a="http://schemas.openxmlformats.org/drawingml/2006/main">
              <a:ext uri="{FF2B5EF4-FFF2-40B4-BE49-F238E27FC236}">
                <a16:creationId xmlns:a16="http://schemas.microsoft.com/office/drawing/2014/main" id="{95DA8B8D-D533-4E98-A941-6C5EA232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286500"/>
            <a:ext cx="666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2C5F5D"/>
                </a:solidFill>
              </a:defRPr>
            </a:pPr>
            <a:r>
              <a:rPr sz="2625" b="1">
                <a:solidFill>
                  <a:srgbClr val="2C5F5D"/>
                </a:solidFill>
              </a:rPr>
              <a:t>재능 · 수행 가능성</a:t>
            </a:r>
          </a:p>
        </p:txBody>
      </p:sp>
      <p:sp>
        <p:nvSpPr>
          <p:cNvPr id="13" name="num-3">
            <a:extLst xmlns:a="http://schemas.openxmlformats.org/drawingml/2006/main">
              <a:ext uri="{FF2B5EF4-FFF2-40B4-BE49-F238E27FC236}">
                <a16:creationId xmlns:a16="http://schemas.microsoft.com/office/drawing/2014/main" id="{BC672B01-D5AD-4987-8D49-DC6837359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381875"/>
            <a:ext cx="914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D9A670"/>
                </a:solidFill>
              </a:defRPr>
            </a:pPr>
            <a:r>
              <a:rPr sz="2550" b="1">
                <a:solidFill>
                  <a:srgbClr val="D9A670"/>
                </a:solidFill>
              </a:rPr>
              <a:t>04</a:t>
            </a:r>
          </a:p>
        </p:txBody>
      </p:sp>
      <p:sp>
        <p:nvSpPr>
          <p:cNvPr id="14" name="item-line-3">
            <a:extLst xmlns:a="http://schemas.openxmlformats.org/drawingml/2006/main">
              <a:ext uri="{FF2B5EF4-FFF2-40B4-BE49-F238E27FC236}">
                <a16:creationId xmlns:a16="http://schemas.microsoft.com/office/drawing/2014/main" id="{92DB035B-1263-4ED0-A22D-81D103A51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792480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670"/>
            </a:solidFill>
            <a:prstDash val="solid"/>
          </a:ln>
        </p:spPr>
      </p:sp>
      <p:sp>
        <p:nvSpPr>
          <p:cNvPr id="15" name="criterion-3">
            <a:extLst xmlns:a="http://schemas.openxmlformats.org/drawingml/2006/main">
              <a:ext uri="{FF2B5EF4-FFF2-40B4-BE49-F238E27FC236}">
                <a16:creationId xmlns:a16="http://schemas.microsoft.com/office/drawing/2014/main" id="{AE9F3E0F-8915-4F4A-BA6A-F89D3EB1C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7381875"/>
            <a:ext cx="666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2C5F5D"/>
                </a:solidFill>
              </a:defRPr>
            </a:pPr>
            <a:r>
              <a:rPr sz="2625" b="1">
                <a:solidFill>
                  <a:srgbClr val="2C5F5D"/>
                </a:solidFill>
              </a:rPr>
              <a:t>가치관 · 의미 기준</a:t>
            </a:r>
          </a:p>
        </p:txBody>
      </p:sp>
      <p:sp>
        <p:nvSpPr>
          <p:cNvPr id="16" name="num-4">
            <a:extLst xmlns:a="http://schemas.openxmlformats.org/drawingml/2006/main">
              <a:ext uri="{FF2B5EF4-FFF2-40B4-BE49-F238E27FC236}">
                <a16:creationId xmlns:a16="http://schemas.microsoft.com/office/drawing/2014/main" id="{BD1C110F-6DAE-4A7D-9DFE-346A6E3A9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477250"/>
            <a:ext cx="914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D9A670"/>
                </a:solidFill>
              </a:defRPr>
            </a:pPr>
            <a:r>
              <a:rPr sz="2550" b="1">
                <a:solidFill>
                  <a:srgbClr val="D9A670"/>
                </a:solidFill>
              </a:rPr>
              <a:t>05</a:t>
            </a:r>
          </a:p>
        </p:txBody>
      </p:sp>
      <p:sp>
        <p:nvSpPr>
          <p:cNvPr id="17" name="item-line-4">
            <a:extLst xmlns:a="http://schemas.openxmlformats.org/drawingml/2006/main">
              <a:ext uri="{FF2B5EF4-FFF2-40B4-BE49-F238E27FC236}">
                <a16:creationId xmlns:a16="http://schemas.microsoft.com/office/drawing/2014/main" id="{1A567656-33EA-4CB3-8580-4C5EE81E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9020175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670"/>
            </a:solidFill>
            <a:prstDash val="solid"/>
          </a:ln>
        </p:spPr>
      </p:sp>
      <p:sp>
        <p:nvSpPr>
          <p:cNvPr id="18" name="criterion-4">
            <a:extLst xmlns:a="http://schemas.openxmlformats.org/drawingml/2006/main">
              <a:ext uri="{FF2B5EF4-FFF2-40B4-BE49-F238E27FC236}">
                <a16:creationId xmlns:a16="http://schemas.microsoft.com/office/drawing/2014/main" id="{0F69AC83-F2F3-4A05-AA15-8D657FA90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8477250"/>
            <a:ext cx="666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2C5F5D"/>
                </a:solidFill>
              </a:defRPr>
            </a:pPr>
            <a:r>
              <a:rPr sz="2625" b="1">
                <a:solidFill>
                  <a:srgbClr val="2C5F5D"/>
                </a:solidFill>
              </a:rPr>
              <a:t>실제 경험 · 검증</a:t>
            </a:r>
          </a:p>
        </p:txBody>
      </p:sp>
      <p:sp>
        <p:nvSpPr>
          <p:cNvPr id="19" name="boundary">
            <a:extLst xmlns:a="http://schemas.openxmlformats.org/drawingml/2006/main">
              <a:ext uri="{FF2B5EF4-FFF2-40B4-BE49-F238E27FC236}">
                <a16:creationId xmlns:a16="http://schemas.microsoft.com/office/drawing/2014/main" id="{4DD46B71-B84D-48F0-A6FD-7B0694CD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829800"/>
            <a:ext cx="9144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28575">
            <a:solidFill>
              <a:srgbClr val="D9A670"/>
            </a:solidFill>
            <a:prstDash val="solid"/>
          </a:ln>
        </p:spPr>
      </p:sp>
      <p:sp>
        <p:nvSpPr>
          <p:cNvPr id="20" name="boundary-text">
            <a:extLst xmlns:a="http://schemas.openxmlformats.org/drawingml/2006/main">
              <a:ext uri="{FF2B5EF4-FFF2-40B4-BE49-F238E27FC236}">
                <a16:creationId xmlns:a16="http://schemas.microsoft.com/office/drawing/2014/main" id="{0F514266-821C-4975-A373-FFD7AA496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001250"/>
            <a:ext cx="857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0">
                <a:solidFill>
                  <a:srgbClr val="4B4B4B"/>
                </a:solidFill>
              </a:defRPr>
            </a:pPr>
            <a:r>
              <a:rPr sz="1875" b="0">
                <a:solidFill>
                  <a:srgbClr val="4B4B4B"/>
                </a:solidFill>
              </a:rPr>
              <a:t>영적 은사를 측정하거나</a:t>
            </a:r>
          </a:p>
          <a:p xmlns:a="http://schemas.openxmlformats.org/drawingml/2006/main">
            <a:pPr algn="ctr">
              <a:buNone/>
              <a:defRPr sz="1875" b="0">
                <a:solidFill>
                  <a:srgbClr val="4B4B4B"/>
                </a:solidFill>
              </a:defRPr>
            </a:pPr>
            <a:r>
              <a:rPr sz="1875" b="0">
                <a:solidFill>
                  <a:srgbClr val="4B4B4B"/>
                </a:solidFill>
              </a:rPr>
              <a:t>하나님의 뜻을 판정하지 않습니다.</a:t>
            </a:r>
          </a:p>
        </p:txBody>
      </p:sp>
      <p:sp>
        <p:nvSpPr>
          <p:cNvPr id="2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C0D2B42-D574-4CD3-AC75-CA35A380C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734800"/>
            <a:ext cx="733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9A670"/>
                </a:solidFill>
              </a:defRPr>
            </a:pPr>
            <a:r>
              <a:rPr sz="1275" b="0">
                <a:solidFill>
                  <a:srgbClr val="D9A670"/>
                </a:solidFill>
              </a:rPr>
              <a:t>07 / 08  ·  UNDERSTAND YOUR DESIGN</a:t>
            </a:r>
          </a:p>
        </p:txBody>
      </p:sp>
    </p:spTree>
    <p:extLst>
      <p:ext uri="{BB962C8B-B14F-4D97-AF65-F5344CB8AC3E}">
        <p14:creationId xmlns:p14="http://schemas.microsoft.com/office/powerpoint/2010/main" val="6527975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234D4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ule">
            <a:extLst xmlns:a="http://schemas.openxmlformats.org/drawingml/2006/main">
              <a:ext uri="{FF2B5EF4-FFF2-40B4-BE49-F238E27FC236}">
                <a16:creationId xmlns:a16="http://schemas.microsoft.com/office/drawing/2014/main" id="{3B63084C-E9EE-4AA3-A906-ED27F5FAF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6200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A670"/>
            </a:solidFill>
            <a:prstDash val="solid"/>
          </a:ln>
        </p:spPr>
      </p:sp>
      <p:sp>
        <p:nvSpPr>
          <p:cNvPr id="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7A413B26-B6BB-4437-A02A-140997B0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1440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D9A670"/>
                </a:solidFill>
              </a:defRPr>
            </a:pPr>
            <a:r>
              <a:rPr sz="1425" b="1">
                <a:solidFill>
                  <a:srgbClr val="D9A670"/>
                </a:solidFill>
              </a:rPr>
              <a:t>FINAL RECAP · 다음 행동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6fa675d3384f5d"/>
          <a:stretch xmlns:a="http://schemas.openxmlformats.org/drawingml/2006/main"/>
        </p:blipFill>
        <p:spPr>
          <a:xfrm xmlns:a="http://schemas.openxmlformats.org/drawingml/2006/main">
            <a:off x="6667500" y="722521"/>
            <a:ext cx="2667000" cy="745707"/>
          </a:xfrm>
          <a:prstGeom xmlns:a="http://schemas.openxmlformats.org/drawingml/2006/main" prst="rect">
            <a:avLst/>
          </a:prstGeom>
        </p:spPr>
      </p:pic>
      <p:sp>
        <p:nvSpPr>
          <p:cNvPr id="4" name="lead">
            <a:extLst xmlns:a="http://schemas.openxmlformats.org/drawingml/2006/main">
              <a:ext uri="{FF2B5EF4-FFF2-40B4-BE49-F238E27FC236}">
                <a16:creationId xmlns:a16="http://schemas.microsoft.com/office/drawing/2014/main" id="{DB2D314A-B62C-487F-9375-84D039674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885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F5F1E8"/>
                </a:solidFill>
              </a:defRPr>
            </a:pPr>
            <a:r>
              <a:rPr sz="2550" b="0">
                <a:solidFill>
                  <a:srgbClr val="F5F1E8"/>
                </a:solidFill>
              </a:rPr>
              <a:t>정답을 서둘러 확정하기보다</a:t>
            </a:r>
          </a:p>
        </p:txBody>
      </p:sp>
      <p:sp>
        <p:nvSpPr>
          <p:cNvPr id="5" name="question">
            <a:extLst xmlns:a="http://schemas.openxmlformats.org/drawingml/2006/main">
              <a:ext uri="{FF2B5EF4-FFF2-40B4-BE49-F238E27FC236}">
                <a16:creationId xmlns:a16="http://schemas.microsoft.com/office/drawing/2014/main" id="{EBA8BD21-D887-4FEF-B30A-2F8ED0D3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0375"/>
            <a:ext cx="8858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반복해서 유익을 준</a:t>
            </a:r>
          </a:p>
          <a:p xmlns:a="http://schemas.openxmlformats.org/drawingml/2006/main">
            <a:pPr algn="l">
              <a:buNone/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역할을 돌아보고</a:t>
            </a:r>
          </a:p>
          <a:p xmlns:a="http://schemas.openxmlformats.org/drawingml/2006/main">
            <a:pPr algn="l">
              <a:buNone/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맡겨진 나를 이해하는</a:t>
            </a:r>
          </a:p>
          <a:p xmlns:a="http://schemas.openxmlformats.org/drawingml/2006/main">
            <a:pPr algn="l">
              <a:buNone/>
              <a:defRPr sz="4650" b="1">
                <a:solidFill>
                  <a:srgbClr val="FFFFFF"/>
                </a:solidFill>
              </a:defRPr>
            </a:pPr>
            <a:r>
              <a:rPr sz="4650" b="1">
                <a:solidFill>
                  <a:srgbClr val="FFFFFF"/>
                </a:solidFill>
              </a:rPr>
              <a:t>질문부터 시작하세요.</a:t>
            </a:r>
          </a:p>
        </p:txBody>
      </p:sp>
      <p:sp>
        <p:nvSpPr>
          <p:cNvPr id="6" name="boundary">
            <a:extLst xmlns:a="http://schemas.openxmlformats.org/drawingml/2006/main">
              <a:ext uri="{FF2B5EF4-FFF2-40B4-BE49-F238E27FC236}">
                <a16:creationId xmlns:a16="http://schemas.microsoft.com/office/drawing/2014/main" id="{47151E3D-3457-4681-B771-FD9E23D54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5805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5F1E8"/>
                </a:solidFill>
              </a:defRPr>
            </a:pPr>
            <a:r>
              <a:rPr sz="1875" b="0">
                <a:solidFill>
                  <a:srgbClr val="F5F1E8"/>
                </a:solidFill>
              </a:rPr>
              <a:t>Career Direct는 하나님의 뜻을 판정하지 않습니다.</a:t>
            </a:r>
          </a:p>
        </p:txBody>
      </p:sp>
      <p:sp>
        <p:nvSpPr>
          <p:cNvPr id="7" name="cta">
            <a:extLst xmlns:a="http://schemas.openxmlformats.org/drawingml/2006/main">
              <a:ext uri="{FF2B5EF4-FFF2-40B4-BE49-F238E27FC236}">
                <a16:creationId xmlns:a16="http://schemas.microsoft.com/office/drawing/2014/main" id="{D9191686-4947-4DBC-97F7-65E9F35FA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0"/>
            <a:ext cx="91821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E8"/>
          </a:solidFill>
          <a:ln xmlns:a="http://schemas.openxmlformats.org/drawingml/2006/main" w="38100">
            <a:solidFill>
              <a:srgbClr val="D9A670"/>
            </a:solidFill>
            <a:prstDash val="solid"/>
          </a:ln>
        </p:spPr>
      </p:sp>
      <p:sp>
        <p:nvSpPr>
          <p:cNvPr id="8" name="cta-title">
            <a:extLst xmlns:a="http://schemas.openxmlformats.org/drawingml/2006/main">
              <a:ext uri="{FF2B5EF4-FFF2-40B4-BE49-F238E27FC236}">
                <a16:creationId xmlns:a16="http://schemas.microsoft.com/office/drawing/2014/main" id="{DBE227D5-66E1-497D-9B43-48D1804DB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4963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2C5F5D"/>
                </a:solidFill>
              </a:defRPr>
            </a:pPr>
            <a:r>
              <a:rPr sz="2700" b="1">
                <a:solidFill>
                  <a:srgbClr val="2C5F5D"/>
                </a:solidFill>
              </a:rPr>
              <a:t>무료 진로 방향 자가진단</a:t>
            </a:r>
          </a:p>
        </p:txBody>
      </p:sp>
      <p:sp>
        <p:nvSpPr>
          <p:cNvPr id="9" name="cta-body">
            <a:extLst xmlns:a="http://schemas.openxmlformats.org/drawingml/2006/main">
              <a:ext uri="{FF2B5EF4-FFF2-40B4-BE49-F238E27FC236}">
                <a16:creationId xmlns:a16="http://schemas.microsoft.com/office/drawing/2014/main" id="{B23F8DD9-58A3-4AEA-A9C1-15065188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1440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4B4B4B"/>
                </a:solidFill>
              </a:defRPr>
            </a:pPr>
            <a:r>
              <a:rPr sz="1800" b="0">
                <a:solidFill>
                  <a:srgbClr val="4B4B4B"/>
                </a:solidFill>
              </a:rPr>
              <a:t>성격·흥미·재능·가치관을 돌아보세요.</a:t>
            </a:r>
          </a:p>
        </p:txBody>
      </p:sp>
      <p:sp>
        <p:nvSpPr>
          <p:cNvPr id="10" name="url">
            <a:extLst xmlns:a="http://schemas.openxmlformats.org/drawingml/2006/main">
              <a:ext uri="{FF2B5EF4-FFF2-40B4-BE49-F238E27FC236}">
                <a16:creationId xmlns:a16="http://schemas.microsoft.com/office/drawing/2014/main" id="{6C0B8CD2-5E28-4BD0-8206-34CA24F06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0687050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00" b="0">
                <a:solidFill>
                  <a:srgbClr val="F5F1E8"/>
                </a:solidFill>
              </a:defRPr>
            </a:pPr>
            <a:r>
              <a:rPr sz="2100" b="0">
                <a:solidFill>
                  <a:srgbClr val="F5F1E8"/>
                </a:solidFill>
              </a:rPr>
              <a:t>START.CAREERDIRECT.KR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9FB478C-8EAB-46B3-85BD-09F1B9744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734800"/>
            <a:ext cx="733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9A670"/>
                </a:solidFill>
              </a:defRPr>
            </a:pPr>
            <a:r>
              <a:rPr sz="1275" b="0">
                <a:solidFill>
                  <a:srgbClr val="D9A670"/>
                </a:solidFill>
              </a:rPr>
              <a:t>08 / 08  ·  DRIVE YOUR JOURNEY</a:t>
            </a:r>
          </a:p>
        </p:txBody>
      </p:sp>
    </p:spTree>
    <p:extLst>
      <p:ext uri="{BB962C8B-B14F-4D97-AF65-F5344CB8AC3E}">
        <p14:creationId xmlns:p14="http://schemas.microsoft.com/office/powerpoint/2010/main" val="20085104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2026-08-24T06:24:00.3520000Z</dcterms:created>
  <dcterms:modified xsi:type="dcterms:W3CDTF">2026-08-24T06:24:00.3520000Z</dcterms:modified>
</coreProperties>
</file>